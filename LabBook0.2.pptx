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89" r:id="rId3"/>
    <p:sldId id="290" r:id="rId4"/>
    <p:sldId id="294" r:id="rId5"/>
    <p:sldId id="293" r:id="rId6"/>
    <p:sldId id="295" r:id="rId7"/>
    <p:sldId id="288" r:id="rId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1FF1A-E03A-4E18-AD5A-DB6F6327133C}" v="49" dt="2026-10-06T08:08:30.95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10" d="100"/>
          <a:sy n="110" d="100"/>
        </p:scale>
        <p:origin x="56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Sanchez-Toril Bastrygina" userId="3b03b09f-13c0-4e05-819a-d5dea8e09df8" providerId="ADAL" clId="{AB6E9420-9DA3-455F-BCF4-9F7D2E397574}"/>
    <pc:docChg chg="undo custSel modSld">
      <pc:chgData name="Andrés Sanchez-Toril Bastrygina" userId="3b03b09f-13c0-4e05-819a-d5dea8e09df8" providerId="ADAL" clId="{AB6E9420-9DA3-455F-BCF4-9F7D2E397574}" dt="2026-10-06T08:08:34.618" v="116" actId="478"/>
      <pc:docMkLst>
        <pc:docMk/>
      </pc:docMkLst>
      <pc:sldChg chg="modSp mod">
        <pc:chgData name="Andrés Sanchez-Toril Bastrygina" userId="3b03b09f-13c0-4e05-819a-d5dea8e09df8" providerId="ADAL" clId="{AB6E9420-9DA3-455F-BCF4-9F7D2E397574}" dt="2026-10-06T07:42:52.991" v="33" actId="20577"/>
        <pc:sldMkLst>
          <pc:docMk/>
          <pc:sldMk cId="730501311" sldId="290"/>
        </pc:sldMkLst>
        <pc:spChg chg="mod">
          <ac:chgData name="Andrés Sanchez-Toril Bastrygina" userId="3b03b09f-13c0-4e05-819a-d5dea8e09df8" providerId="ADAL" clId="{AB6E9420-9DA3-455F-BCF4-9F7D2E397574}" dt="2026-10-06T07:42:52.991" v="33" actId="20577"/>
          <ac:spMkLst>
            <pc:docMk/>
            <pc:sldMk cId="730501311" sldId="290"/>
            <ac:spMk id="2" creationId="{D0F8CF3B-B920-DBFC-F825-0C87B51EADA7}"/>
          </ac:spMkLst>
        </pc:spChg>
      </pc:sldChg>
      <pc:sldChg chg="modSp mod">
        <pc:chgData name="Andrés Sanchez-Toril Bastrygina" userId="3b03b09f-13c0-4e05-819a-d5dea8e09df8" providerId="ADAL" clId="{AB6E9420-9DA3-455F-BCF4-9F7D2E397574}" dt="2026-10-06T08:04:03.536" v="76" actId="20577"/>
        <pc:sldMkLst>
          <pc:docMk/>
          <pc:sldMk cId="3660438245" sldId="293"/>
        </pc:sldMkLst>
        <pc:spChg chg="mod">
          <ac:chgData name="Andrés Sanchez-Toril Bastrygina" userId="3b03b09f-13c0-4e05-819a-d5dea8e09df8" providerId="ADAL" clId="{AB6E9420-9DA3-455F-BCF4-9F7D2E397574}" dt="2026-10-06T08:04:03.536" v="76" actId="20577"/>
          <ac:spMkLst>
            <pc:docMk/>
            <pc:sldMk cId="3660438245" sldId="293"/>
            <ac:spMk id="2" creationId="{FDE3A197-9508-F9F1-1FEB-FF883D78C151}"/>
          </ac:spMkLst>
        </pc:spChg>
      </pc:sldChg>
      <pc:sldChg chg="addSp delSp modSp mod">
        <pc:chgData name="Andrés Sanchez-Toril Bastrygina" userId="3b03b09f-13c0-4e05-819a-d5dea8e09df8" providerId="ADAL" clId="{AB6E9420-9DA3-455F-BCF4-9F7D2E397574}" dt="2026-10-06T08:01:30.688" v="63" actId="1076"/>
        <pc:sldMkLst>
          <pc:docMk/>
          <pc:sldMk cId="389060045" sldId="294"/>
        </pc:sldMkLst>
        <pc:spChg chg="del mod">
          <ac:chgData name="Andrés Sanchez-Toril Bastrygina" userId="3b03b09f-13c0-4e05-819a-d5dea8e09df8" providerId="ADAL" clId="{AB6E9420-9DA3-455F-BCF4-9F7D2E397574}" dt="2026-10-06T07:59:42.702" v="39" actId="478"/>
          <ac:spMkLst>
            <pc:docMk/>
            <pc:sldMk cId="389060045" sldId="294"/>
            <ac:spMk id="3" creationId="{B5073547-9844-AEFE-B825-A9F07D445BE0}"/>
          </ac:spMkLst>
        </pc:spChg>
        <pc:picChg chg="del">
          <ac:chgData name="Andrés Sanchez-Toril Bastrygina" userId="3b03b09f-13c0-4e05-819a-d5dea8e09df8" providerId="ADAL" clId="{AB6E9420-9DA3-455F-BCF4-9F7D2E397574}" dt="2026-10-06T07:59:19.971" v="34" actId="478"/>
          <ac:picMkLst>
            <pc:docMk/>
            <pc:sldMk cId="389060045" sldId="294"/>
            <ac:picMk id="7" creationId="{186E9E82-6931-C9BA-9295-64CA29D3EA62}"/>
          </ac:picMkLst>
        </pc:picChg>
        <pc:picChg chg="add mod">
          <ac:chgData name="Andrés Sanchez-Toril Bastrygina" userId="3b03b09f-13c0-4e05-819a-d5dea8e09df8" providerId="ADAL" clId="{AB6E9420-9DA3-455F-BCF4-9F7D2E397574}" dt="2026-10-06T08:00:12.783" v="44" actId="1076"/>
          <ac:picMkLst>
            <pc:docMk/>
            <pc:sldMk cId="389060045" sldId="294"/>
            <ac:picMk id="8" creationId="{043A6F89-38E4-D733-5F07-553088ED76FA}"/>
          </ac:picMkLst>
        </pc:picChg>
        <pc:picChg chg="del">
          <ac:chgData name="Andrés Sanchez-Toril Bastrygina" userId="3b03b09f-13c0-4e05-819a-d5dea8e09df8" providerId="ADAL" clId="{AB6E9420-9DA3-455F-BCF4-9F7D2E397574}" dt="2026-10-06T07:59:20.653" v="35" actId="478"/>
          <ac:picMkLst>
            <pc:docMk/>
            <pc:sldMk cId="389060045" sldId="294"/>
            <ac:picMk id="9" creationId="{FB295032-020C-56C2-4CC1-D9B9DBA633AA}"/>
          </ac:picMkLst>
        </pc:picChg>
        <pc:picChg chg="del">
          <ac:chgData name="Andrés Sanchez-Toril Bastrygina" userId="3b03b09f-13c0-4e05-819a-d5dea8e09df8" providerId="ADAL" clId="{AB6E9420-9DA3-455F-BCF4-9F7D2E397574}" dt="2026-10-06T07:59:21.622" v="36" actId="478"/>
          <ac:picMkLst>
            <pc:docMk/>
            <pc:sldMk cId="389060045" sldId="294"/>
            <ac:picMk id="11" creationId="{44527028-81E9-0252-F525-16916D1EC4CC}"/>
          </ac:picMkLst>
        </pc:picChg>
        <pc:picChg chg="add mod">
          <ac:chgData name="Andrés Sanchez-Toril Bastrygina" userId="3b03b09f-13c0-4e05-819a-d5dea8e09df8" providerId="ADAL" clId="{AB6E9420-9DA3-455F-BCF4-9F7D2E397574}" dt="2026-10-06T08:00:27.454" v="48" actId="14100"/>
          <ac:picMkLst>
            <pc:docMk/>
            <pc:sldMk cId="389060045" sldId="294"/>
            <ac:picMk id="12" creationId="{99AA2972-02F3-0E6D-4F4D-2DEEBCBDBCCE}"/>
          </ac:picMkLst>
        </pc:picChg>
        <pc:picChg chg="del">
          <ac:chgData name="Andrés Sanchez-Toril Bastrygina" userId="3b03b09f-13c0-4e05-819a-d5dea8e09df8" providerId="ADAL" clId="{AB6E9420-9DA3-455F-BCF4-9F7D2E397574}" dt="2026-10-06T07:59:22.405" v="37" actId="478"/>
          <ac:picMkLst>
            <pc:docMk/>
            <pc:sldMk cId="389060045" sldId="294"/>
            <ac:picMk id="13" creationId="{87E1235D-C957-17C0-C957-0CFD5A54FD38}"/>
          </ac:picMkLst>
        </pc:picChg>
        <pc:picChg chg="add mod">
          <ac:chgData name="Andrés Sanchez-Toril Bastrygina" userId="3b03b09f-13c0-4e05-819a-d5dea8e09df8" providerId="ADAL" clId="{AB6E9420-9DA3-455F-BCF4-9F7D2E397574}" dt="2026-10-06T08:00:42.928" v="53" actId="1076"/>
          <ac:picMkLst>
            <pc:docMk/>
            <pc:sldMk cId="389060045" sldId="294"/>
            <ac:picMk id="15" creationId="{A0B8E1F6-8905-6E2B-DF32-AB3510C2F0E3}"/>
          </ac:picMkLst>
        </pc:picChg>
        <pc:picChg chg="add mod">
          <ac:chgData name="Andrés Sanchez-Toril Bastrygina" userId="3b03b09f-13c0-4e05-819a-d5dea8e09df8" providerId="ADAL" clId="{AB6E9420-9DA3-455F-BCF4-9F7D2E397574}" dt="2026-10-06T08:01:30.688" v="63" actId="1076"/>
          <ac:picMkLst>
            <pc:docMk/>
            <pc:sldMk cId="389060045" sldId="294"/>
            <ac:picMk id="17" creationId="{7D76924C-AB0E-7883-CF0F-92E81D2E1158}"/>
          </ac:picMkLst>
        </pc:picChg>
        <pc:picChg chg="add mod">
          <ac:chgData name="Andrés Sanchez-Toril Bastrygina" userId="3b03b09f-13c0-4e05-819a-d5dea8e09df8" providerId="ADAL" clId="{AB6E9420-9DA3-455F-BCF4-9F7D2E397574}" dt="2026-10-06T08:01:26.980" v="62" actId="1076"/>
          <ac:picMkLst>
            <pc:docMk/>
            <pc:sldMk cId="389060045" sldId="294"/>
            <ac:picMk id="19" creationId="{A3BF1D38-8F68-B85D-1A04-82C94F0D2E47}"/>
          </ac:picMkLst>
        </pc:picChg>
      </pc:sldChg>
      <pc:sldChg chg="addSp delSp modSp mod">
        <pc:chgData name="Andrés Sanchez-Toril Bastrygina" userId="3b03b09f-13c0-4e05-819a-d5dea8e09df8" providerId="ADAL" clId="{AB6E9420-9DA3-455F-BCF4-9F7D2E397574}" dt="2026-10-06T08:08:34.618" v="116" actId="478"/>
        <pc:sldMkLst>
          <pc:docMk/>
          <pc:sldMk cId="3642976569" sldId="295"/>
        </pc:sldMkLst>
        <pc:spChg chg="del">
          <ac:chgData name="Andrés Sanchez-Toril Bastrygina" userId="3b03b09f-13c0-4e05-819a-d5dea8e09df8" providerId="ADAL" clId="{AB6E9420-9DA3-455F-BCF4-9F7D2E397574}" dt="2026-10-06T08:04:09.546" v="77" actId="478"/>
          <ac:spMkLst>
            <pc:docMk/>
            <pc:sldMk cId="3642976569" sldId="295"/>
            <ac:spMk id="3" creationId="{67AD1887-CE8B-1931-C237-2AE04163E565}"/>
          </ac:spMkLst>
        </pc:spChg>
        <pc:spChg chg="add del mod">
          <ac:chgData name="Andrés Sanchez-Toril Bastrygina" userId="3b03b09f-13c0-4e05-819a-d5dea8e09df8" providerId="ADAL" clId="{AB6E9420-9DA3-455F-BCF4-9F7D2E397574}" dt="2026-10-06T08:04:14.947" v="78" actId="478"/>
          <ac:spMkLst>
            <pc:docMk/>
            <pc:sldMk cId="3642976569" sldId="295"/>
            <ac:spMk id="8" creationId="{9DE0AADA-F988-B27E-6F2C-013FE9197C16}"/>
          </ac:spMkLst>
        </pc:spChg>
        <pc:spChg chg="add del">
          <ac:chgData name="Andrés Sanchez-Toril Bastrygina" userId="3b03b09f-13c0-4e05-819a-d5dea8e09df8" providerId="ADAL" clId="{AB6E9420-9DA3-455F-BCF4-9F7D2E397574}" dt="2026-10-06T08:04:17.077" v="81" actId="22"/>
          <ac:spMkLst>
            <pc:docMk/>
            <pc:sldMk cId="3642976569" sldId="295"/>
            <ac:spMk id="12" creationId="{93BBD1F2-8172-2F98-0377-E0F96D10B9CA}"/>
          </ac:spMkLst>
        </pc:spChg>
        <pc:spChg chg="add mod">
          <ac:chgData name="Andrés Sanchez-Toril Bastrygina" userId="3b03b09f-13c0-4e05-819a-d5dea8e09df8" providerId="ADAL" clId="{AB6E9420-9DA3-455F-BCF4-9F7D2E397574}" dt="2026-10-06T08:08:33.024" v="115" actId="14100"/>
          <ac:spMkLst>
            <pc:docMk/>
            <pc:sldMk cId="3642976569" sldId="295"/>
            <ac:spMk id="23" creationId="{B7462437-C081-4AE8-DBC1-74E8B5F439D8}"/>
          </ac:spMkLst>
        </pc:spChg>
        <pc:picChg chg="del">
          <ac:chgData name="Andrés Sanchez-Toril Bastrygina" userId="3b03b09f-13c0-4e05-819a-d5dea8e09df8" providerId="ADAL" clId="{AB6E9420-9DA3-455F-BCF4-9F7D2E397574}" dt="2026-10-06T08:01:46.269" v="66" actId="478"/>
          <ac:picMkLst>
            <pc:docMk/>
            <pc:sldMk cId="3642976569" sldId="295"/>
            <ac:picMk id="7" creationId="{B7DCC204-0B92-C855-8E21-96B2D9CED7BA}"/>
          </ac:picMkLst>
        </pc:picChg>
        <pc:picChg chg="del">
          <ac:chgData name="Andrés Sanchez-Toril Bastrygina" userId="3b03b09f-13c0-4e05-819a-d5dea8e09df8" providerId="ADAL" clId="{AB6E9420-9DA3-455F-BCF4-9F7D2E397574}" dt="2026-10-06T08:01:45.259" v="65" actId="478"/>
          <ac:picMkLst>
            <pc:docMk/>
            <pc:sldMk cId="3642976569" sldId="295"/>
            <ac:picMk id="9" creationId="{51D20D6E-E0B0-1628-7B53-4F31E071EA9E}"/>
          </ac:picMkLst>
        </pc:picChg>
        <pc:picChg chg="del">
          <ac:chgData name="Andrés Sanchez-Toril Bastrygina" userId="3b03b09f-13c0-4e05-819a-d5dea8e09df8" providerId="ADAL" clId="{AB6E9420-9DA3-455F-BCF4-9F7D2E397574}" dt="2026-10-06T08:01:44.336" v="64" actId="478"/>
          <ac:picMkLst>
            <pc:docMk/>
            <pc:sldMk cId="3642976569" sldId="295"/>
            <ac:picMk id="11" creationId="{74D6F14C-2C13-9B1B-D613-1D3E7101CFC4}"/>
          </ac:picMkLst>
        </pc:picChg>
        <pc:picChg chg="add mod">
          <ac:chgData name="Andrés Sanchez-Toril Bastrygina" userId="3b03b09f-13c0-4e05-819a-d5dea8e09df8" providerId="ADAL" clId="{AB6E9420-9DA3-455F-BCF4-9F7D2E397574}" dt="2026-10-06T08:04:29.719" v="84" actId="1076"/>
          <ac:picMkLst>
            <pc:docMk/>
            <pc:sldMk cId="3642976569" sldId="295"/>
            <ac:picMk id="14" creationId="{A841F58E-F86C-AACE-9128-5757046E9583}"/>
          </ac:picMkLst>
        </pc:picChg>
        <pc:picChg chg="add mod">
          <ac:chgData name="Andrés Sanchez-Toril Bastrygina" userId="3b03b09f-13c0-4e05-819a-d5dea8e09df8" providerId="ADAL" clId="{AB6E9420-9DA3-455F-BCF4-9F7D2E397574}" dt="2026-10-06T08:04:42.789" v="89" actId="1076"/>
          <ac:picMkLst>
            <pc:docMk/>
            <pc:sldMk cId="3642976569" sldId="295"/>
            <ac:picMk id="16" creationId="{FE61D513-54D0-0C39-12BC-FAA90C8516D2}"/>
          </ac:picMkLst>
        </pc:picChg>
        <pc:picChg chg="add mod">
          <ac:chgData name="Andrés Sanchez-Toril Bastrygina" userId="3b03b09f-13c0-4e05-819a-d5dea8e09df8" providerId="ADAL" clId="{AB6E9420-9DA3-455F-BCF4-9F7D2E397574}" dt="2026-10-06T08:04:56.334" v="93" actId="14100"/>
          <ac:picMkLst>
            <pc:docMk/>
            <pc:sldMk cId="3642976569" sldId="295"/>
            <ac:picMk id="18" creationId="{1EB4B0E0-8994-9904-F988-180A63AF42A4}"/>
          </ac:picMkLst>
        </pc:picChg>
        <pc:picChg chg="add mod">
          <ac:chgData name="Andrés Sanchez-Toril Bastrygina" userId="3b03b09f-13c0-4e05-819a-d5dea8e09df8" providerId="ADAL" clId="{AB6E9420-9DA3-455F-BCF4-9F7D2E397574}" dt="2026-10-06T08:07:46.905" v="96" actId="1076"/>
          <ac:picMkLst>
            <pc:docMk/>
            <pc:sldMk cId="3642976569" sldId="295"/>
            <ac:picMk id="20" creationId="{B0BEB7A7-6EFC-60CC-1407-9863DFDF2340}"/>
          </ac:picMkLst>
        </pc:picChg>
        <pc:picChg chg="add del mod">
          <ac:chgData name="Andrés Sanchez-Toril Bastrygina" userId="3b03b09f-13c0-4e05-819a-d5dea8e09df8" providerId="ADAL" clId="{AB6E9420-9DA3-455F-BCF4-9F7D2E397574}" dt="2026-10-06T08:08:34.618" v="116" actId="478"/>
          <ac:picMkLst>
            <pc:docMk/>
            <pc:sldMk cId="3642976569" sldId="295"/>
            <ac:picMk id="22" creationId="{32F83EA7-4DE4-2CCA-C405-1CD79F3763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canvas-upv/pic-upv-lab0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Andrés Sanchez-Toril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0F8CF3B-B920-DBFC-F825-0C87B51EADA7}"/>
                  </a:ext>
                </a:extLst>
              </p:cNvPr>
              <p:cNvSpPr txBox="1"/>
              <p:nvPr/>
            </p:nvSpPr>
            <p:spPr>
              <a:xfrm>
                <a:off x="610906" y="3886200"/>
                <a:ext cx="11199971" cy="19731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1100" dirty="0"/>
                  <a:t>In </a:t>
                </a:r>
                <a:r>
                  <a:rPr lang="es-ES" sz="1100" dirty="0" err="1"/>
                  <a:t>this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benchmark</a:t>
                </a:r>
                <a:r>
                  <a:rPr lang="es-ES" sz="1100" dirty="0"/>
                  <a:t>, a </a:t>
                </a:r>
                <a:r>
                  <a:rPr lang="es-ES" sz="1100" dirty="0" err="1"/>
                  <a:t>symmetric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directional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coupler</a:t>
                </a:r>
                <a:r>
                  <a:rPr lang="es-ES" sz="1100" dirty="0"/>
                  <a:t> (DC) </a:t>
                </a:r>
                <a:r>
                  <a:rPr lang="es-ES" sz="1100" dirty="0" err="1"/>
                  <a:t>based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two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deep-etched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Si</m:t>
                        </m:r>
                      </m:e>
                      <m:sub>
                        <m:r>
                          <a:rPr lang="es-ES" sz="1100"/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N</m:t>
                        </m:r>
                      </m:e>
                      <m:sub>
                        <m:r>
                          <a:rPr lang="es-ES" sz="1100"/>
                          <m:t>4</m:t>
                        </m:r>
                      </m:sub>
                    </m:sSub>
                  </m:oMath>
                </a14:m>
                <a:r>
                  <a:rPr lang="es-ES" sz="1100" dirty="0" err="1"/>
                  <a:t>waveguides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was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modeled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using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gt.modes.WaveguideCoupler</a:t>
                </a:r>
                <a:r>
                  <a:rPr lang="es-ES" sz="11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𝜆</m:t>
                        </m:r>
                      </m:e>
                      <m:sub>
                        <m:r>
                          <a:rPr lang="es-ES" sz="1100"/>
                          <m:t>0</m:t>
                        </m:r>
                      </m:sub>
                    </m:sSub>
                    <m:r>
                      <a:rPr lang="es-ES" sz="1100"/>
                      <m:t>=1.55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</m:oMath>
                </a14:m>
                <a:r>
                  <a:rPr lang="es-ES" sz="1100" dirty="0"/>
                  <a:t>. The </a:t>
                </a:r>
                <a:r>
                  <a:rPr lang="es-ES" sz="1100" dirty="0" err="1"/>
                  <a:t>cross-section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features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two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identical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cores</a:t>
                </a:r>
                <a:r>
                  <a:rPr lang="es-ES" sz="1100" dirty="0"/>
                  <a:t> (</a:t>
                </a:r>
                <a14:m>
                  <m:oMath xmlns:m="http://schemas.openxmlformats.org/officeDocument/2006/math">
                    <m:r>
                      <a:rPr lang="es-ES" sz="1100" i="1"/>
                      <m:t>𝑤</m:t>
                    </m:r>
                    <m:r>
                      <a:rPr lang="es-ES" sz="1100"/>
                      <m:t>=1.2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</m:oMath>
                </a14:m>
                <a:r>
                  <a:rPr lang="es-ES" sz="1100" dirty="0"/>
                  <a:t>, </a:t>
                </a:r>
                <a14:m>
                  <m:oMath xmlns:m="http://schemas.openxmlformats.org/officeDocument/2006/math">
                    <m:r>
                      <a:rPr lang="es-ES" sz="1100" i="1"/>
                      <m:t>ℎ</m:t>
                    </m:r>
                    <m:r>
                      <a:rPr lang="es-ES" sz="1100"/>
                      <m:t>=300 </m:t>
                    </m:r>
                    <m:r>
                      <m:rPr>
                        <m:sty m:val="p"/>
                      </m:rPr>
                      <a:rPr lang="es-ES" sz="1100"/>
                      <m:t>nm</m:t>
                    </m:r>
                  </m:oMath>
                </a14:m>
                <a:r>
                  <a:rPr lang="es-ES" sz="1100" dirty="0"/>
                  <a:t>, </a:t>
                </a:r>
                <a:r>
                  <a:rPr lang="es-ES" sz="1100" dirty="0" err="1"/>
                  <a:t>slab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r>
                      <a:rPr lang="es-ES" sz="1100"/>
                      <m:t>=0 </m:t>
                    </m:r>
                    <m:r>
                      <m:rPr>
                        <m:sty m:val="p"/>
                      </m:rPr>
                      <a:rPr lang="es-ES" sz="1100"/>
                      <m:t>nm</m:t>
                    </m:r>
                  </m:oMath>
                </a14:m>
                <a:r>
                  <a:rPr lang="es-ES" sz="1100" dirty="0"/>
                  <a:t>) </a:t>
                </a:r>
                <a:r>
                  <a:rPr lang="es-ES" sz="1100" dirty="0" err="1"/>
                  <a:t>separated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by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edge-to-edge</a:t>
                </a:r>
                <a:r>
                  <a:rPr lang="es-ES" sz="1100" dirty="0"/>
                  <a:t> gap </a:t>
                </a:r>
                <a:r>
                  <a:rPr lang="es-ES" sz="1100" dirty="0" err="1"/>
                  <a:t>of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r>
                      <a:rPr lang="es-ES" sz="1100"/>
                      <m:t>0.6 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  <m:r>
                      <a:rPr lang="es-E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100" dirty="0" err="1"/>
                  <a:t>embedded</a:t>
                </a:r>
                <a:r>
                  <a:rPr lang="es-ES" sz="11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100"/>
                          <m:t>SiO</m:t>
                        </m:r>
                      </m:e>
                      <m:sub>
                        <m:r>
                          <a:rPr lang="es-ES" sz="1100"/>
                          <m:t>2</m:t>
                        </m:r>
                      </m:sub>
                    </m:sSub>
                  </m:oMath>
                </a14:m>
                <a:r>
                  <a:rPr lang="es-ES" sz="1100" dirty="0" err="1"/>
                  <a:t>cladding</a:t>
                </a:r>
                <a:r>
                  <a:rPr lang="es-ES" sz="1100" dirty="0"/>
                  <a:t>.</a:t>
                </a:r>
              </a:p>
              <a:p>
                <a:r>
                  <a:rPr lang="es-ES" sz="1100" dirty="0" err="1"/>
                  <a:t>Evanescent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field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interaction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breaks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mode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degeneracy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splitting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fundamental </a:t>
                </a:r>
                <a:r>
                  <a:rPr lang="es-ES" sz="1100" dirty="0" err="1"/>
                  <a:t>states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supermodes</a:t>
                </a:r>
                <a:r>
                  <a:rPr lang="es-ES" sz="1100" dirty="0"/>
                  <a:t>:</a:t>
                </a:r>
              </a:p>
              <a:p>
                <a:pPr lvl="0"/>
                <a:r>
                  <a:rPr lang="es-ES" sz="1100" b="1" dirty="0"/>
                  <a:t>Mode 0 (Even 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100"/>
                          <m:t>eff</m:t>
                        </m:r>
                      </m:sub>
                    </m:sSub>
                    <m:r>
                      <a:rPr lang="es-ES" sz="1100"/>
                      <m:t>≈1.6094</m:t>
                    </m:r>
                  </m:oMath>
                </a14:m>
                <a:r>
                  <a:rPr lang="es-ES" sz="1100" b="1" dirty="0"/>
                  <a:t>):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Symmetric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in-phase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field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distribution</a:t>
                </a:r>
                <a:r>
                  <a:rPr lang="es-ES" sz="1100" dirty="0"/>
                  <a:t> (</a:t>
                </a:r>
                <a14:m>
                  <m:oMath xmlns:m="http://schemas.openxmlformats.org/officeDocument/2006/math">
                    <m:r>
                      <a:rPr lang="es-ES" sz="1100"/>
                      <m:t>99.49%</m:t>
                    </m:r>
                  </m:oMath>
                </a14:m>
                <a:r>
                  <a:rPr lang="es-ES" sz="1100" dirty="0"/>
                  <a:t> TE).</a:t>
                </a:r>
              </a:p>
              <a:p>
                <a:pPr lvl="0"/>
                <a:r>
                  <a:rPr lang="es-ES" sz="1100" b="1" dirty="0"/>
                  <a:t>Mode 1 (Odd 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100"/>
                          <m:t>eff</m:t>
                        </m:r>
                      </m:sub>
                    </m:sSub>
                    <m:r>
                      <a:rPr lang="es-ES" sz="1100"/>
                      <m:t>≈1.6012</m:t>
                    </m:r>
                  </m:oMath>
                </a14:m>
                <a:r>
                  <a:rPr lang="es-ES" sz="1100" b="1" dirty="0"/>
                  <a:t>):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Antisymmetric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out-of-phase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field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distribution</a:t>
                </a:r>
                <a:r>
                  <a:rPr lang="es-ES" sz="1100" dirty="0"/>
                  <a:t> (</a:t>
                </a:r>
                <a14:m>
                  <m:oMath xmlns:m="http://schemas.openxmlformats.org/officeDocument/2006/math">
                    <m:r>
                      <a:rPr lang="es-ES" sz="1100"/>
                      <m:t>99.53%</m:t>
                    </m:r>
                  </m:oMath>
                </a14:m>
                <a:r>
                  <a:rPr lang="es-ES" sz="1100" dirty="0"/>
                  <a:t> TE).</a:t>
                </a:r>
              </a:p>
              <a:p>
                <a:r>
                  <a:rPr lang="es-ES" sz="1100" dirty="0"/>
                  <a:t>The </a:t>
                </a:r>
                <a:r>
                  <a:rPr lang="es-ES" sz="1100" dirty="0" err="1"/>
                  <a:t>spatial</a:t>
                </a:r>
                <a:r>
                  <a:rPr lang="es-ES" sz="1100" dirty="0"/>
                  <a:t> </a:t>
                </a:r>
                <a:r>
                  <a:rPr lang="es-ES" sz="1100" dirty="0" err="1"/>
                  <a:t>power</a:t>
                </a:r>
                <a:r>
                  <a:rPr lang="es-ES" sz="1100" dirty="0"/>
                  <a:t> transfer </a:t>
                </a:r>
                <a:r>
                  <a:rPr lang="es-ES" sz="1100" dirty="0" err="1"/>
                  <a:t>between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arms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dictated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by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beating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length</a:t>
                </a:r>
                <a:r>
                  <a:rPr lang="es-ES" sz="1100" dirty="0"/>
                  <a:t>: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100" i="1"/>
                          </m:ctrlPr>
                        </m:sSubPr>
                        <m:e>
                          <m:r>
                            <a:rPr lang="es-ES" sz="1100" i="1"/>
                            <m:t>𝐿</m:t>
                          </m:r>
                        </m:e>
                        <m:sub>
                          <m:r>
                            <a:rPr lang="es-ES" sz="1100" i="1"/>
                            <m:t>𝜋</m:t>
                          </m:r>
                        </m:sub>
                      </m:sSub>
                      <m:r>
                        <a:rPr lang="es-ES" sz="1100"/>
                        <m:t>=</m:t>
                      </m:r>
                      <m:f>
                        <m:fPr>
                          <m:ctrlPr>
                            <a:rPr lang="es-ES" sz="1100" i="1"/>
                          </m:ctrlPr>
                        </m:fPr>
                        <m:num>
                          <m:sSub>
                            <m:sSubPr>
                              <m:ctrlPr>
                                <a:rPr lang="es-ES" sz="1100" i="1"/>
                              </m:ctrlPr>
                            </m:sSubPr>
                            <m:e>
                              <m:r>
                                <a:rPr lang="es-ES" sz="1100" i="1"/>
                                <m:t>𝜆</m:t>
                              </m:r>
                            </m:e>
                            <m:sub>
                              <m:r>
                                <a:rPr lang="es-ES" sz="1100"/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s-ES" sz="1100"/>
                            <m:t>2⋅</m:t>
                          </m:r>
                          <m:r>
                            <m:rPr>
                              <m:sty m:val="p"/>
                            </m:rPr>
                            <a:rPr lang="es-ES" sz="1100"/>
                            <m:t>Δ</m:t>
                          </m:r>
                          <m:sSub>
                            <m:sSubPr>
                              <m:ctrlPr>
                                <a:rPr lang="es-ES" sz="1100" i="1"/>
                              </m:ctrlPr>
                            </m:sSubPr>
                            <m:e>
                              <m:r>
                                <a:rPr lang="es-ES" sz="1100" i="1"/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1100"/>
                                <m:t>eff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1100" dirty="0"/>
              </a:p>
              <a:p>
                <a:endParaRPr lang="es-ES" sz="1100" dirty="0"/>
              </a:p>
              <a:p>
                <a:r>
                  <a:rPr lang="es-ES" sz="1100" dirty="0"/>
                  <a:t>For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fundamental TE </a:t>
                </a:r>
                <a:r>
                  <a:rPr lang="es-ES" sz="1100" dirty="0" err="1"/>
                  <a:t>polarization</a:t>
                </a:r>
                <a:r>
                  <a:rPr lang="es-ES" sz="11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100"/>
                      <m:t>Δ</m:t>
                    </m:r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100"/>
                          <m:t>eff</m:t>
                        </m:r>
                      </m:sub>
                    </m:sSub>
                    <m:r>
                      <a:rPr lang="es-ES" sz="1100"/>
                      <m:t>≈0.008259</m:t>
                    </m:r>
                  </m:oMath>
                </a14:m>
                <a:r>
                  <a:rPr lang="es-ES" sz="1100" dirty="0"/>
                  <a:t>, </a:t>
                </a:r>
                <a:r>
                  <a:rPr lang="es-ES" sz="1100" dirty="0" err="1"/>
                  <a:t>resulting</a:t>
                </a:r>
                <a:r>
                  <a:rPr lang="es-ES" sz="1100" dirty="0"/>
                  <a:t> in a </a:t>
                </a:r>
                <a:r>
                  <a:rPr lang="es-ES" sz="1100" dirty="0" err="1"/>
                  <a:t>coupling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length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of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𝐿</m:t>
                        </m:r>
                      </m:e>
                      <m:sub>
                        <m:r>
                          <a:rPr lang="es-ES" sz="1100" i="1"/>
                          <m:t>𝜋</m:t>
                        </m:r>
                        <m:r>
                          <a:rPr lang="es-ES" sz="1100"/>
                          <m:t>,</m:t>
                        </m:r>
                        <m:r>
                          <m:rPr>
                            <m:sty m:val="p"/>
                          </m:rPr>
                          <a:rPr lang="es-ES" sz="1100"/>
                          <m:t>TE</m:t>
                        </m:r>
                      </m:sub>
                    </m:sSub>
                    <m:r>
                      <a:rPr lang="es-ES" sz="1100"/>
                      <m:t>≈93.84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</m:oMath>
                </a14:m>
                <a:r>
                  <a:rPr lang="es-ES" sz="1100" dirty="0"/>
                  <a:t>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𝐿</m:t>
                        </m:r>
                      </m:e>
                      <m:sub>
                        <m:r>
                          <a:rPr lang="es-ES" sz="1100" i="1"/>
                          <m:t>𝜋</m:t>
                        </m:r>
                        <m:r>
                          <a:rPr lang="es-ES" sz="1100"/>
                          <m:t>,</m:t>
                        </m:r>
                        <m:r>
                          <m:rPr>
                            <m:sty m:val="p"/>
                          </m:rPr>
                          <a:rPr lang="es-ES" sz="1100"/>
                          <m:t>TM</m:t>
                        </m:r>
                      </m:sub>
                    </m:sSub>
                    <m:r>
                      <a:rPr lang="es-ES" sz="1100"/>
                      <m:t>≈52.26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</m:oMath>
                </a14:m>
                <a:r>
                  <a:rPr lang="es-ES" sz="1100" dirty="0"/>
                  <a:t>). </a:t>
                </a:r>
                <a:r>
                  <a:rPr lang="es-ES" sz="1100" dirty="0" err="1"/>
                  <a:t>This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distance</a:t>
                </a:r>
                <a:r>
                  <a:rPr lang="es-ES" sz="1100" dirty="0"/>
                  <a:t> defines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exact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interaction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length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required</a:t>
                </a:r>
                <a:r>
                  <a:rPr lang="es-ES" sz="1100" dirty="0"/>
                  <a:t> </a:t>
                </a:r>
                <a:r>
                  <a:rPr lang="es-ES" sz="1100" dirty="0" err="1"/>
                  <a:t>for</a:t>
                </a:r>
                <a:r>
                  <a:rPr lang="es-ES" sz="1100" dirty="0"/>
                  <a:t> a complete (</a:t>
                </a:r>
                <a14:m>
                  <m:oMath xmlns:m="http://schemas.openxmlformats.org/officeDocument/2006/math">
                    <m:r>
                      <a:rPr lang="es-ES" sz="1100"/>
                      <m:t>100%</m:t>
                    </m:r>
                  </m:oMath>
                </a14:m>
                <a:r>
                  <a:rPr lang="es-ES" sz="1100" dirty="0"/>
                  <a:t>) </a:t>
                </a:r>
                <a:r>
                  <a:rPr lang="es-ES" sz="1100" dirty="0" err="1"/>
                  <a:t>power</a:t>
                </a:r>
                <a:r>
                  <a:rPr lang="es-ES" sz="1100" dirty="0"/>
                  <a:t> transfer </a:t>
                </a:r>
                <a:r>
                  <a:rPr lang="es-ES" sz="1100" dirty="0" err="1"/>
                  <a:t>from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input </a:t>
                </a:r>
                <a:r>
                  <a:rPr lang="es-ES" sz="1100" dirty="0" err="1"/>
                  <a:t>waveguide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to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cross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port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whereas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half</a:t>
                </a:r>
                <a:r>
                  <a:rPr lang="es-ES" sz="1100" dirty="0"/>
                  <a:t> </a:t>
                </a:r>
                <a:r>
                  <a:rPr lang="es-ES" sz="1100" dirty="0" err="1"/>
                  <a:t>of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length</a:t>
                </a:r>
                <a:r>
                  <a:rPr lang="es-ES" sz="11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i="1"/>
                        </m:ctrlPr>
                      </m:sSubPr>
                      <m:e>
                        <m:r>
                          <a:rPr lang="es-ES" sz="1100" i="1"/>
                          <m:t>𝐿</m:t>
                        </m:r>
                      </m:e>
                      <m:sub>
                        <m:r>
                          <a:rPr lang="es-ES" sz="1100" i="1"/>
                          <m:t>𝜋</m:t>
                        </m:r>
                      </m:sub>
                    </m:sSub>
                    <m:r>
                      <a:rPr lang="es-ES" sz="1100"/>
                      <m:t>/2≈46.92 </m:t>
                    </m:r>
                    <m:r>
                      <a:rPr lang="es-ES" sz="1100" i="1"/>
                      <m:t>𝜇</m:t>
                    </m:r>
                    <m:r>
                      <m:rPr>
                        <m:sty m:val="p"/>
                      </m:rPr>
                      <a:rPr lang="es-ES" sz="1100"/>
                      <m:t>m</m:t>
                    </m:r>
                  </m:oMath>
                </a14:m>
                <a:r>
                  <a:rPr lang="es-ES" sz="1100" dirty="0"/>
                  <a:t>) </a:t>
                </a:r>
                <a:r>
                  <a:rPr lang="es-ES" sz="1100" dirty="0" err="1"/>
                  <a:t>implements</a:t>
                </a:r>
                <a:r>
                  <a:rPr lang="es-ES" sz="1100" dirty="0"/>
                  <a:t> a 3-dB (50:50) </a:t>
                </a:r>
                <a:r>
                  <a:rPr lang="es-ES" sz="1100" dirty="0" err="1"/>
                  <a:t>power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splitter</a:t>
                </a:r>
                <a:r>
                  <a:rPr lang="es-ES" sz="1100" dirty="0"/>
                  <a:t>.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D0F8CF3B-B920-DBFC-F825-0C87B51EA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06" y="3886200"/>
                <a:ext cx="11199971" cy="1973169"/>
              </a:xfrm>
              <a:prstGeom prst="rect">
                <a:avLst/>
              </a:prstGeom>
              <a:blipFill>
                <a:blip r:embed="rId6"/>
                <a:stretch>
                  <a:fillRect b="-305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B0F2F-699F-53AC-865E-75C6F537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Directional</a:t>
            </a:r>
            <a:r>
              <a:rPr lang="es-ES" dirty="0"/>
              <a:t> </a:t>
            </a:r>
            <a:r>
              <a:rPr lang="es-ES" dirty="0" err="1"/>
              <a:t>coupler</a:t>
            </a: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5624B3-8CA5-3711-ECFF-C5F0982373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DC7B81-9614-E2CF-5B94-42F72E20DB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3A6F89-38E4-D733-5F07-553088ED7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3322"/>
            <a:ext cx="2971800" cy="208669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9AA2972-02F3-0E6D-4F4D-2DEEBCBDB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08305"/>
            <a:ext cx="3052264" cy="208669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0B8E1F6-8905-6E2B-DF32-AB3510C2F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684913"/>
            <a:ext cx="3124200" cy="209176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D76924C-AB0E-7883-CF0F-92E81D2E1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041" y="3312289"/>
            <a:ext cx="3190581" cy="213253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3BF1D38-8F68-B85D-1A04-82C94F0D2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4868" y="3276600"/>
            <a:ext cx="3176932" cy="213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/>
              <p:nvPr/>
            </p:nvSpPr>
            <p:spPr>
              <a:xfrm>
                <a:off x="608012" y="3657600"/>
                <a:ext cx="11199971" cy="23601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Document all your results (neff, plot fields of different modes, comparison between different polarizations…)</a:t>
                </a:r>
              </a:p>
              <a:p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multimode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waveguide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core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features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width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200" i="1"/>
                      <m:t>𝑊</m:t>
                    </m:r>
                    <m:r>
                      <a:rPr lang="es-ES" sz="1200"/>
                      <m:t>=12 </m:t>
                    </m:r>
                    <m:r>
                      <a:rPr lang="es-ES" sz="1200" i="1"/>
                      <m:t>𝜇</m:t>
                    </m:r>
                    <m:r>
                      <m:rPr>
                        <m:sty m:val="p"/>
                      </m:rPr>
                      <a:rPr lang="es-ES" sz="1200"/>
                      <m:t>m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a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height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300 </m:t>
                    </m:r>
                    <m:r>
                      <m:rPr>
                        <m:sty m:val="p"/>
                      </m:rPr>
                      <a:rPr lang="es-ES" sz="1200"/>
                      <m:t>nm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a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slab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thickness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0 </m:t>
                    </m:r>
                    <m:r>
                      <m:rPr>
                        <m:sty m:val="p"/>
                      </m:rPr>
                      <a:rPr lang="es-ES" sz="1200"/>
                      <m:t>nm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deep-etched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Si</m:t>
                        </m:r>
                      </m:e>
                      <m:sub>
                        <m:r>
                          <a:rPr lang="es-ES" sz="1200"/>
                          <m:t>3</m:t>
                        </m:r>
                      </m:sub>
                    </m:sSub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N</m:t>
                        </m:r>
                      </m:e>
                      <m:sub>
                        <m:r>
                          <a:rPr lang="es-ES" sz="1200"/>
                          <m:t>4</m:t>
                        </m:r>
                      </m:sub>
                    </m:sSub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1200"/>
                          <m:t>SiO</m:t>
                        </m:r>
                      </m:e>
                      <m:sub>
                        <m:r>
                          <a:rPr lang="es-ES" sz="1200"/>
                          <m:t>2</m:t>
                        </m:r>
                      </m:sub>
                    </m:sSub>
                  </m:oMath>
                </a14:m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cladding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supporting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15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guided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higher-order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spatial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E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self-imaging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mechanism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in MMI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couplers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relies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phase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difference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excited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guided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key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design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parameter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beat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length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𝐿</m:t>
                        </m:r>
                      </m:e>
                      <m:sub>
                        <m:r>
                          <a:rPr lang="es-ES" sz="1200" i="1"/>
                          <m:t>𝜋</m:t>
                        </m:r>
                      </m:sub>
                    </m:sSub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determined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effective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index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difference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fundamental (Mode 0) and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first-order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(Mode 1)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quasi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-TE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modes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s-E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" sz="1200" i="1"/>
                          </m:ctrlPr>
                        </m:sSubPr>
                        <m:e>
                          <m:r>
                            <a:rPr lang="es-ES" sz="1200" i="1"/>
                            <m:t>𝐿</m:t>
                          </m:r>
                        </m:e>
                        <m:sub>
                          <m:r>
                            <a:rPr lang="es-ES" sz="1200" i="1"/>
                            <m:t>𝜋</m:t>
                          </m:r>
                        </m:sub>
                      </m:sSub>
                      <m:r>
                        <a:rPr lang="es-ES" sz="1200"/>
                        <m:t>≈</m:t>
                      </m:r>
                      <m:f>
                        <m:fPr>
                          <m:ctrlPr>
                            <a:rPr lang="es-ES" sz="1200" i="1"/>
                          </m:ctrlPr>
                        </m:fPr>
                        <m:num>
                          <m:sSub>
                            <m:sSubPr>
                              <m:ctrlPr>
                                <a:rPr lang="es-ES" sz="1200" i="1"/>
                              </m:ctrlPr>
                            </m:sSubPr>
                            <m:e>
                              <m:r>
                                <a:rPr lang="es-ES" sz="1200" i="1"/>
                                <m:t>𝜆</m:t>
                              </m:r>
                            </m:e>
                            <m:sub>
                              <m:r>
                                <a:rPr lang="es-ES" sz="1200"/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s-ES" sz="1200"/>
                            <m:t>2⋅</m:t>
                          </m:r>
                          <m:d>
                            <m:dPr>
                              <m:ctrlPr>
                                <a:rPr lang="es-ES" sz="1200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200" i="1"/>
                                  </m:ctrlPr>
                                </m:sSubPr>
                                <m:e>
                                  <m:r>
                                    <a:rPr lang="es-ES" sz="1200" i="1"/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200"/>
                                    <m:t>eff</m:t>
                                  </m:r>
                                  <m:r>
                                    <a:rPr lang="es-ES" sz="1200"/>
                                    <m:t>,0</m:t>
                                  </m:r>
                                </m:sub>
                              </m:sSub>
                              <m:r>
                                <a:rPr lang="es-ES" sz="1200"/>
                                <m:t>−</m:t>
                              </m:r>
                              <m:sSub>
                                <m:sSubPr>
                                  <m:ctrlPr>
                                    <a:rPr lang="es-ES" sz="1200" i="1"/>
                                  </m:ctrlPr>
                                </m:sSubPr>
                                <m:e>
                                  <m:r>
                                    <a:rPr lang="es-ES" sz="1200" i="1"/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200"/>
                                    <m:t>eff</m:t>
                                  </m:r>
                                  <m:r>
                                    <a:rPr lang="es-ES" sz="1200"/>
                                    <m:t>,1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s-E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E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numerical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solver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effective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indices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  <m:r>
                          <a:rPr lang="es-ES" sz="1200"/>
                          <m:t>,0</m:t>
                        </m:r>
                      </m:sub>
                    </m:sSub>
                    <m:r>
                      <a:rPr lang="es-ES" sz="1200"/>
                      <m:t>≈1.6787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  <m:r>
                          <a:rPr lang="es-ES" sz="1200"/>
                          <m:t>,1</m:t>
                        </m:r>
                      </m:sub>
                    </m:sSub>
                    <m:r>
                      <a:rPr lang="es-ES" sz="1200"/>
                      <m:t>≈1.6751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yielding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200"/>
                      <m:t>Δ</m:t>
                    </m:r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1200"/>
                          <m:t>eff</m:t>
                        </m:r>
                      </m:sub>
                    </m:sSub>
                    <m:r>
                      <a:rPr lang="es-ES" sz="1200"/>
                      <m:t>≈3.532×</m:t>
                    </m:r>
                    <m:sSup>
                      <m:sSupPr>
                        <m:ctrlPr>
                          <a:rPr lang="es-ES" sz="1200"/>
                        </m:ctrlPr>
                      </m:sSupPr>
                      <m:e>
                        <m:r>
                          <a:rPr lang="es-ES" sz="1200"/>
                          <m:t>10</m:t>
                        </m:r>
                      </m:e>
                      <m:sup>
                        <m:r>
                          <a:rPr lang="es-ES" sz="1200"/>
                          <m:t>−3</m:t>
                        </m:r>
                      </m:sup>
                    </m:sSup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This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calculated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beating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length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𝐿</m:t>
                        </m:r>
                      </m:e>
                      <m:sub>
                        <m:r>
                          <a:rPr lang="es-ES" sz="1200" i="1"/>
                          <m:t>𝜋</m:t>
                        </m:r>
                      </m:sub>
                    </m:sSub>
                    <m:r>
                      <a:rPr lang="es-ES" sz="1200"/>
                      <m:t>≈219.41 </m:t>
                    </m:r>
                    <m:r>
                      <a:rPr lang="es-ES" sz="1200" i="1"/>
                      <m:t>𝜇</m:t>
                    </m:r>
                    <m:r>
                      <m:rPr>
                        <m:sty m:val="p"/>
                      </m:rPr>
                      <a:rPr lang="es-ES" sz="1200"/>
                      <m:t>m</m:t>
                    </m:r>
                  </m:oMath>
                </a14:m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which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establishes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baseline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length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determine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imaging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distances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3-dB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splitters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., </a:t>
                </a:r>
                <a14:m>
                  <m:oMath xmlns:m="http://schemas.openxmlformats.org/officeDocument/2006/math">
                    <m:r>
                      <a:rPr lang="es-ES" sz="1200"/>
                      <m:t>3</m:t>
                    </m:r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𝐿</m:t>
                        </m:r>
                      </m:e>
                      <m:sub>
                        <m:r>
                          <a:rPr lang="es-ES" sz="1200" i="1"/>
                          <m:t>𝜋</m:t>
                        </m:r>
                      </m:sub>
                    </m:sSub>
                    <m:r>
                      <a:rPr lang="es-ES" sz="1200"/>
                      <m:t>/8</m:t>
                    </m:r>
                  </m:oMath>
                </a14:m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1200"/>
                      <m:t>3</m:t>
                    </m:r>
                    <m:sSub>
                      <m:sSubPr>
                        <m:ctrlPr>
                          <a:rPr lang="es-ES" sz="1200" i="1"/>
                        </m:ctrlPr>
                      </m:sSubPr>
                      <m:e>
                        <m:r>
                          <a:rPr lang="es-ES" sz="1200" i="1"/>
                          <m:t>𝐿</m:t>
                        </m:r>
                      </m:e>
                      <m:sub>
                        <m:r>
                          <a:rPr lang="es-ES" sz="1200" i="1"/>
                          <m:t>𝜋</m:t>
                        </m:r>
                      </m:sub>
                    </m:sSub>
                    <m:r>
                      <a:rPr lang="es-ES" sz="1200"/>
                      <m:t>/4</m:t>
                    </m:r>
                  </m:oMath>
                </a14:m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depending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excitation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symmetry</a:t>
                </a:r>
                <a:r>
                  <a:rPr lang="es-E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  <a:endParaRPr lang="es-E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DE3A197-9508-F9F1-1FEB-FF883D78C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3657600"/>
                <a:ext cx="11199971" cy="23601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BEE4C-8BE0-F626-F565-67360374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MMI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BE9B79-6F41-9DCA-7399-B6DA0B5D4A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A0F844-8430-F38E-B9DB-53BF04AD55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841F58E-F86C-AACE-9128-5757046E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0"/>
            <a:ext cx="3128963" cy="223333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E61D513-54D0-0C39-12BC-FAA90C85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2396" y="725779"/>
            <a:ext cx="3352800" cy="234575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EB4B0E0-8994-9904-F988-180A63AF4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695356"/>
            <a:ext cx="3505200" cy="245237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0BEB7A7-6EFC-60CC-1407-9863DFDF2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880" y="3973319"/>
            <a:ext cx="4673840" cy="15240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7462437-C081-4AE8-DBC1-74E8B5F439D8}"/>
                  </a:ext>
                </a:extLst>
              </p:cNvPr>
              <p:cNvSpPr txBox="1"/>
              <p:nvPr/>
            </p:nvSpPr>
            <p:spPr>
              <a:xfrm>
                <a:off x="7010400" y="4654882"/>
                <a:ext cx="1981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/>
                        </m:ctrlPr>
                      </m:sSubPr>
                      <m:e>
                        <m:r>
                          <a:rPr lang="es-ES" i="1"/>
                          <m:t>𝐿</m:t>
                        </m:r>
                      </m:e>
                      <m:sub>
                        <m:r>
                          <a:rPr lang="es-ES" i="1"/>
                          <m:t>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219,411</a:t>
                </a:r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7462437-C081-4AE8-DBC1-74E8B5F43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654882"/>
                <a:ext cx="1981200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97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1800</TotalTime>
  <Words>705</Words>
  <Application>Microsoft Office PowerPoint</Application>
  <PresentationFormat>Panorámica</PresentationFormat>
  <Paragraphs>75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Directional coupler cross-section in GDSFactory </vt:lpstr>
      <vt:lpstr>Directional coupler</vt:lpstr>
      <vt:lpstr>Learning outcome #2 – Multimode Interference (MMI) Coupler cross-section</vt:lpstr>
      <vt:lpstr>MMI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Andrés Sanchez-Toril Bastrygina</cp:lastModifiedBy>
  <cp:revision>9</cp:revision>
  <dcterms:created xsi:type="dcterms:W3CDTF">2025-01-27T02:46:57Z</dcterms:created>
  <dcterms:modified xsi:type="dcterms:W3CDTF">2026-10-06T08:08:35Z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
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89" r:id="rId3"/>
    <p:sldId id="290" r:id="rId4"/>
    <p:sldId id="292" r:id="rId5"/>
    <p:sldId id="291" r:id="rId6"/>
    <p:sldId id="288" r:id="rId7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F62ED7-877B-490F-8FBB-BD5DDE7C3B87}" v="80" dt="2026-10-06T07:34:17.15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5033" autoAdjust="0"/>
  </p:normalViewPr>
  <p:slideViewPr>
    <p:cSldViewPr>
      <p:cViewPr varScale="1">
        <p:scale>
          <a:sx n="110" d="100"/>
          <a:sy n="110" d="100"/>
        </p:scale>
        <p:origin x="64" y="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s Sanchez-Toril Bastrygina" userId="3b03b09f-13c0-4e05-819a-d5dea8e09df8" providerId="ADAL" clId="{AB6E9420-9DA3-455F-BCF4-9F7D2E397574}"/>
    <pc:docChg chg="custSel modSld">
      <pc:chgData name="Andrés Sanchez-Toril Bastrygina" userId="3b03b09f-13c0-4e05-819a-d5dea8e09df8" providerId="ADAL" clId="{AB6E9420-9DA3-455F-BCF4-9F7D2E397574}" dt="2026-10-06T07:34:17.153" v="226" actId="20577"/>
      <pc:docMkLst>
        <pc:docMk/>
      </pc:docMkLst>
      <pc:sldChg chg="modSp mod">
        <pc:chgData name="Andrés Sanchez-Toril Bastrygina" userId="3b03b09f-13c0-4e05-819a-d5dea8e09df8" providerId="ADAL" clId="{AB6E9420-9DA3-455F-BCF4-9F7D2E397574}" dt="2026-10-05T15:31:12.432" v="24" actId="20577"/>
        <pc:sldMkLst>
          <pc:docMk/>
          <pc:sldMk cId="730501311" sldId="290"/>
        </pc:sldMkLst>
        <pc:spChg chg="mod">
          <ac:chgData name="Andrés Sanchez-Toril Bastrygina" userId="3b03b09f-13c0-4e05-819a-d5dea8e09df8" providerId="ADAL" clId="{AB6E9420-9DA3-455F-BCF4-9F7D2E397574}" dt="2026-10-05T15:31:12.432" v="24" actId="20577"/>
          <ac:spMkLst>
            <pc:docMk/>
            <pc:sldMk cId="730501311" sldId="290"/>
            <ac:spMk id="2" creationId="{D0F8CF3B-B920-DBFC-F825-0C87B51EADA7}"/>
          </ac:spMkLst>
        </pc:spChg>
      </pc:sldChg>
      <pc:sldChg chg="modSp mod">
        <pc:chgData name="Andrés Sanchez-Toril Bastrygina" userId="3b03b09f-13c0-4e05-819a-d5dea8e09df8" providerId="ADAL" clId="{AB6E9420-9DA3-455F-BCF4-9F7D2E397574}" dt="2026-10-06T07:34:17.153" v="226" actId="20577"/>
        <pc:sldMkLst>
          <pc:docMk/>
          <pc:sldMk cId="3712356003" sldId="291"/>
        </pc:sldMkLst>
        <pc:spChg chg="mod">
          <ac:chgData name="Andrés Sanchez-Toril Bastrygina" userId="3b03b09f-13c0-4e05-819a-d5dea8e09df8" providerId="ADAL" clId="{AB6E9420-9DA3-455F-BCF4-9F7D2E397574}" dt="2026-10-06T07:34:17.153" v="226" actId="20577"/>
          <ac:spMkLst>
            <pc:docMk/>
            <pc:sldMk cId="3712356003" sldId="291"/>
            <ac:spMk id="2" creationId="{CA5F0FDF-2A95-453B-4ECA-AEB637FF2694}"/>
          </ac:spMkLst>
        </pc:spChg>
        <pc:spChg chg="mod">
          <ac:chgData name="Andrés Sanchez-Toril Bastrygina" userId="3b03b09f-13c0-4e05-819a-d5dea8e09df8" providerId="ADAL" clId="{AB6E9420-9DA3-455F-BCF4-9F7D2E397574}" dt="2026-10-05T16:13:45.302" v="216" actId="1035"/>
          <ac:spMkLst>
            <pc:docMk/>
            <pc:sldMk cId="3712356003" sldId="291"/>
            <ac:spMk id="5" creationId="{88F19863-7091-B8CA-F848-DBEA5CEEA027}"/>
          </ac:spMkLst>
        </pc:spChg>
        <pc:spChg chg="mod">
          <ac:chgData name="Andrés Sanchez-Toril Bastrygina" userId="3b03b09f-13c0-4e05-819a-d5dea8e09df8" providerId="ADAL" clId="{AB6E9420-9DA3-455F-BCF4-9F7D2E397574}" dt="2026-10-05T16:13:45.302" v="216" actId="1035"/>
          <ac:spMkLst>
            <pc:docMk/>
            <pc:sldMk cId="3712356003" sldId="291"/>
            <ac:spMk id="7" creationId="{21F754A5-65BC-14A3-5F55-75716FFA9027}"/>
          </ac:spMkLst>
        </pc:spChg>
        <pc:spChg chg="mod">
          <ac:chgData name="Andrés Sanchez-Toril Bastrygina" userId="3b03b09f-13c0-4e05-819a-d5dea8e09df8" providerId="ADAL" clId="{AB6E9420-9DA3-455F-BCF4-9F7D2E397574}" dt="2026-10-05T16:13:45.302" v="216" actId="1035"/>
          <ac:spMkLst>
            <pc:docMk/>
            <pc:sldMk cId="3712356003" sldId="291"/>
            <ac:spMk id="9" creationId="{8BD4C233-B5D9-B6AA-93A8-CF2F130CFF9C}"/>
          </ac:spMkLst>
        </pc:spChg>
        <pc:picChg chg="mod">
          <ac:chgData name="Andrés Sanchez-Toril Bastrygina" userId="3b03b09f-13c0-4e05-819a-d5dea8e09df8" providerId="ADAL" clId="{AB6E9420-9DA3-455F-BCF4-9F7D2E397574}" dt="2026-10-05T16:13:45.302" v="216" actId="1035"/>
          <ac:picMkLst>
            <pc:docMk/>
            <pc:sldMk cId="3712356003" sldId="291"/>
            <ac:picMk id="10" creationId="{96DA4BD8-309D-AAF2-F4FF-AF9439A0C418}"/>
          </ac:picMkLst>
        </pc:picChg>
        <pc:picChg chg="mod">
          <ac:chgData name="Andrés Sanchez-Toril Bastrygina" userId="3b03b09f-13c0-4e05-819a-d5dea8e09df8" providerId="ADAL" clId="{AB6E9420-9DA3-455F-BCF4-9F7D2E397574}" dt="2026-10-05T16:13:45.302" v="216" actId="1035"/>
          <ac:picMkLst>
            <pc:docMk/>
            <pc:sldMk cId="3712356003" sldId="291"/>
            <ac:picMk id="15" creationId="{425DCDEB-11F6-34FC-DB00-65657FA95062}"/>
          </ac:picMkLst>
        </pc:picChg>
      </pc:sldChg>
      <pc:sldChg chg="addSp delSp modSp mod">
        <pc:chgData name="Andrés Sanchez-Toril Bastrygina" userId="3b03b09f-13c0-4e05-819a-d5dea8e09df8" providerId="ADAL" clId="{AB6E9420-9DA3-455F-BCF4-9F7D2E397574}" dt="2026-10-05T16:04:06.197" v="148" actId="1037"/>
        <pc:sldMkLst>
          <pc:docMk/>
          <pc:sldMk cId="157792532" sldId="292"/>
        </pc:sldMkLst>
        <pc:spChg chg="del mod">
          <ac:chgData name="Andrés Sanchez-Toril Bastrygina" userId="3b03b09f-13c0-4e05-819a-d5dea8e09df8" providerId="ADAL" clId="{AB6E9420-9DA3-455F-BCF4-9F7D2E397574}" dt="2026-10-05T15:41:25.457" v="27" actId="478"/>
          <ac:spMkLst>
            <pc:docMk/>
            <pc:sldMk cId="157792532" sldId="292"/>
            <ac:spMk id="2" creationId="{74E3FA6F-C015-522A-6A3F-600AB90AFB8C}"/>
          </ac:spMkLst>
        </pc:spChg>
        <pc:spChg chg="del">
          <ac:chgData name="Andrés Sanchez-Toril Bastrygina" userId="3b03b09f-13c0-4e05-819a-d5dea8e09df8" providerId="ADAL" clId="{AB6E9420-9DA3-455F-BCF4-9F7D2E397574}" dt="2026-10-05T15:52:51.624" v="77" actId="478"/>
          <ac:spMkLst>
            <pc:docMk/>
            <pc:sldMk cId="157792532" sldId="292"/>
            <ac:spMk id="6" creationId="{00921962-4025-E41D-ABFA-B7DB8D86B7CE}"/>
          </ac:spMkLst>
        </pc:spChg>
        <pc:spChg chg="add del mod">
          <ac:chgData name="Andrés Sanchez-Toril Bastrygina" userId="3b03b09f-13c0-4e05-819a-d5dea8e09df8" providerId="ADAL" clId="{AB6E9420-9DA3-455F-BCF4-9F7D2E397574}" dt="2026-10-05T15:41:27.709" v="28" actId="478"/>
          <ac:spMkLst>
            <pc:docMk/>
            <pc:sldMk cId="157792532" sldId="292"/>
            <ac:spMk id="7" creationId="{348C7AEF-9A5A-ACA9-6B45-BD854573DC03}"/>
          </ac:spMkLst>
        </pc:spChg>
        <pc:spChg chg="add del mod">
          <ac:chgData name="Andrés Sanchez-Toril Bastrygina" userId="3b03b09f-13c0-4e05-819a-d5dea8e09df8" providerId="ADAL" clId="{AB6E9420-9DA3-455F-BCF4-9F7D2E397574}" dt="2026-10-05T15:53:38.650" v="96" actId="478"/>
          <ac:spMkLst>
            <pc:docMk/>
            <pc:sldMk cId="157792532" sldId="292"/>
            <ac:spMk id="28" creationId="{1B8C29F2-C244-7B82-1767-F7A741490720}"/>
          </ac:spMkLst>
        </pc:spChg>
        <pc:picChg chg="del">
          <ac:chgData name="Andrés Sanchez-Toril Bastrygina" userId="3b03b09f-13c0-4e05-819a-d5dea8e09df8" providerId="ADAL" clId="{AB6E9420-9DA3-455F-BCF4-9F7D2E397574}" dt="2026-10-05T15:41:19.203" v="25" actId="478"/>
          <ac:picMkLst>
            <pc:docMk/>
            <pc:sldMk cId="157792532" sldId="292"/>
            <ac:picMk id="8" creationId="{6BE3CCAB-B686-E8DA-188D-C1740E6CDF2F}"/>
          </ac:picMkLst>
        </pc:picChg>
        <pc:picChg chg="del">
          <ac:chgData name="Andrés Sanchez-Toril Bastrygina" userId="3b03b09f-13c0-4e05-819a-d5dea8e09df8" providerId="ADAL" clId="{AB6E9420-9DA3-455F-BCF4-9F7D2E397574}" dt="2026-10-05T15:43:18.049" v="41" actId="478"/>
          <ac:picMkLst>
            <pc:docMk/>
            <pc:sldMk cId="157792532" sldId="292"/>
            <ac:picMk id="10" creationId="{EF11F2A3-DC6C-36CB-F9F4-8AD159993964}"/>
          </ac:picMkLst>
        </pc:picChg>
        <pc:picChg chg="add del mod">
          <ac:chgData name="Andrés Sanchez-Toril Bastrygina" userId="3b03b09f-13c0-4e05-819a-d5dea8e09df8" providerId="ADAL" clId="{AB6E9420-9DA3-455F-BCF4-9F7D2E397574}" dt="2026-10-05T16:03:51.176" v="142" actId="478"/>
          <ac:picMkLst>
            <pc:docMk/>
            <pc:sldMk cId="157792532" sldId="292"/>
            <ac:picMk id="11" creationId="{5A4A09FC-2972-6F9C-38B3-1F3D83508BBD}"/>
          </ac:picMkLst>
        </pc:picChg>
        <pc:picChg chg="del">
          <ac:chgData name="Andrés Sanchez-Toril Bastrygina" userId="3b03b09f-13c0-4e05-819a-d5dea8e09df8" providerId="ADAL" clId="{AB6E9420-9DA3-455F-BCF4-9F7D2E397574}" dt="2026-10-05T15:43:16.787" v="40" actId="478"/>
          <ac:picMkLst>
            <pc:docMk/>
            <pc:sldMk cId="157792532" sldId="292"/>
            <ac:picMk id="12" creationId="{0C180BC6-294C-80CF-ED76-0A0F170D57FD}"/>
          </ac:picMkLst>
        </pc:picChg>
        <pc:picChg chg="add mod">
          <ac:chgData name="Andrés Sanchez-Toril Bastrygina" userId="3b03b09f-13c0-4e05-819a-d5dea8e09df8" providerId="ADAL" clId="{AB6E9420-9DA3-455F-BCF4-9F7D2E397574}" dt="2026-10-05T15:53:35.365" v="95" actId="1076"/>
          <ac:picMkLst>
            <pc:docMk/>
            <pc:sldMk cId="157792532" sldId="292"/>
            <ac:picMk id="14" creationId="{CF52C3D5-E310-850D-269C-47B7F90CD1BC}"/>
          </ac:picMkLst>
        </pc:picChg>
        <pc:picChg chg="add mod">
          <ac:chgData name="Andrés Sanchez-Toril Bastrygina" userId="3b03b09f-13c0-4e05-819a-d5dea8e09df8" providerId="ADAL" clId="{AB6E9420-9DA3-455F-BCF4-9F7D2E397574}" dt="2026-10-05T15:53:32.402" v="94" actId="14100"/>
          <ac:picMkLst>
            <pc:docMk/>
            <pc:sldMk cId="157792532" sldId="292"/>
            <ac:picMk id="16" creationId="{B77B1FC3-664F-8A56-BCFB-117E24CF010F}"/>
          </ac:picMkLst>
        </pc:picChg>
        <pc:picChg chg="add mod">
          <ac:chgData name="Andrés Sanchez-Toril Bastrygina" userId="3b03b09f-13c0-4e05-819a-d5dea8e09df8" providerId="ADAL" clId="{AB6E9420-9DA3-455F-BCF4-9F7D2E397574}" dt="2026-10-05T15:53:24.057" v="92" actId="1076"/>
          <ac:picMkLst>
            <pc:docMk/>
            <pc:sldMk cId="157792532" sldId="292"/>
            <ac:picMk id="18" creationId="{8A05F08A-E41A-A046-F08F-02BFAF5ACC09}"/>
          </ac:picMkLst>
        </pc:picChg>
        <pc:picChg chg="add del mod">
          <ac:chgData name="Andrés Sanchez-Toril Bastrygina" userId="3b03b09f-13c0-4e05-819a-d5dea8e09df8" providerId="ADAL" clId="{AB6E9420-9DA3-455F-BCF4-9F7D2E397574}" dt="2026-10-05T15:53:15.868" v="88" actId="478"/>
          <ac:picMkLst>
            <pc:docMk/>
            <pc:sldMk cId="157792532" sldId="292"/>
            <ac:picMk id="20" creationId="{723AE9A6-0531-CAED-723F-B2B697A1A17E}"/>
          </ac:picMkLst>
        </pc:picChg>
        <pc:picChg chg="add del mod">
          <ac:chgData name="Andrés Sanchez-Toril Bastrygina" userId="3b03b09f-13c0-4e05-819a-d5dea8e09df8" providerId="ADAL" clId="{AB6E9420-9DA3-455F-BCF4-9F7D2E397574}" dt="2026-10-05T15:53:16.642" v="89" actId="478"/>
          <ac:picMkLst>
            <pc:docMk/>
            <pc:sldMk cId="157792532" sldId="292"/>
            <ac:picMk id="22" creationId="{6ED6F1BB-22DE-D00F-8DF4-F1C06F924E1A}"/>
          </ac:picMkLst>
        </pc:picChg>
        <pc:picChg chg="add del mod">
          <ac:chgData name="Andrés Sanchez-Toril Bastrygina" userId="3b03b09f-13c0-4e05-819a-d5dea8e09df8" providerId="ADAL" clId="{AB6E9420-9DA3-455F-BCF4-9F7D2E397574}" dt="2026-10-05T15:53:14.085" v="86" actId="478"/>
          <ac:picMkLst>
            <pc:docMk/>
            <pc:sldMk cId="157792532" sldId="292"/>
            <ac:picMk id="24" creationId="{C3EAF72E-10F3-DFF1-7CCE-F312B79EBA7B}"/>
          </ac:picMkLst>
        </pc:picChg>
        <pc:picChg chg="add del mod">
          <ac:chgData name="Andrés Sanchez-Toril Bastrygina" userId="3b03b09f-13c0-4e05-819a-d5dea8e09df8" providerId="ADAL" clId="{AB6E9420-9DA3-455F-BCF4-9F7D2E397574}" dt="2026-10-05T15:53:14.879" v="87" actId="478"/>
          <ac:picMkLst>
            <pc:docMk/>
            <pc:sldMk cId="157792532" sldId="292"/>
            <ac:picMk id="26" creationId="{E8B93E78-90CD-CB4C-9317-ABB75B33B56D}"/>
          </ac:picMkLst>
        </pc:picChg>
        <pc:picChg chg="add mod">
          <ac:chgData name="Andrés Sanchez-Toril Bastrygina" userId="3b03b09f-13c0-4e05-819a-d5dea8e09df8" providerId="ADAL" clId="{AB6E9420-9DA3-455F-BCF4-9F7D2E397574}" dt="2026-10-05T16:02:59.484" v="140" actId="1038"/>
          <ac:picMkLst>
            <pc:docMk/>
            <pc:sldMk cId="157792532" sldId="292"/>
            <ac:picMk id="30" creationId="{2E03024A-6877-2E00-66F9-AD93F65A3446}"/>
          </ac:picMkLst>
        </pc:picChg>
        <pc:picChg chg="add mod">
          <ac:chgData name="Andrés Sanchez-Toril Bastrygina" userId="3b03b09f-13c0-4e05-819a-d5dea8e09df8" providerId="ADAL" clId="{AB6E9420-9DA3-455F-BCF4-9F7D2E397574}" dt="2026-10-05T16:02:59.484" v="140" actId="1038"/>
          <ac:picMkLst>
            <pc:docMk/>
            <pc:sldMk cId="157792532" sldId="292"/>
            <ac:picMk id="32" creationId="{E7E645FE-DBEA-3A70-9814-6B0644575AE9}"/>
          </ac:picMkLst>
        </pc:picChg>
        <pc:picChg chg="add mod">
          <ac:chgData name="Andrés Sanchez-Toril Bastrygina" userId="3b03b09f-13c0-4e05-819a-d5dea8e09df8" providerId="ADAL" clId="{AB6E9420-9DA3-455F-BCF4-9F7D2E397574}" dt="2026-10-05T16:02:59.484" v="140" actId="1038"/>
          <ac:picMkLst>
            <pc:docMk/>
            <pc:sldMk cId="157792532" sldId="292"/>
            <ac:picMk id="34" creationId="{61870A83-7308-65D6-EACC-1CCEFAD10BAE}"/>
          </ac:picMkLst>
        </pc:picChg>
        <pc:picChg chg="add mod">
          <ac:chgData name="Andrés Sanchez-Toril Bastrygina" userId="3b03b09f-13c0-4e05-819a-d5dea8e09df8" providerId="ADAL" clId="{AB6E9420-9DA3-455F-BCF4-9F7D2E397574}" dt="2026-10-05T16:03:03.897" v="141" actId="1076"/>
          <ac:picMkLst>
            <pc:docMk/>
            <pc:sldMk cId="157792532" sldId="292"/>
            <ac:picMk id="36" creationId="{101ADA96-5A5C-9ECB-80AE-888B3B5C9447}"/>
          </ac:picMkLst>
        </pc:picChg>
        <pc:picChg chg="add mod">
          <ac:chgData name="Andrés Sanchez-Toril Bastrygina" userId="3b03b09f-13c0-4e05-819a-d5dea8e09df8" providerId="ADAL" clId="{AB6E9420-9DA3-455F-BCF4-9F7D2E397574}" dt="2026-10-05T16:04:06.197" v="148" actId="1037"/>
          <ac:picMkLst>
            <pc:docMk/>
            <pc:sldMk cId="157792532" sldId="292"/>
            <ac:picMk id="38" creationId="{D4C68EE0-2E7D-2B7A-2D28-9A6670018A3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C5711-C157-AA5E-1EA1-9F4C3F40B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FA117F6-F66D-FFD4-422F-EBD94B31F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B512FE-9F6C-4ABD-23FA-CA518B458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24E7A5-CBFC-658B-8E88-8AF8084D5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2961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0.1. MODESOLVER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0.1. MODESOLVER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0.1. MODESOLVER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0.1. MODESOLVER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ccanvas-upv/pic-upv-lab0.git" TargetMode="Externa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0.1. </a:t>
            </a:r>
            <a:r>
              <a:rPr lang="es-ES" sz="3200" b="1" dirty="0" err="1">
                <a:latin typeface="Lucida Sans"/>
                <a:cs typeface="Lucida Sans"/>
              </a:rPr>
              <a:t>ModeSolver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Andrés Sanchez-Toril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</a:t>
            </a: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  <a:hlinkClick r:id="rId3"/>
              </a:rPr>
              <a:t>https://github.com/cccanvas-upv/pic-upv-lab0.git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010_MODESOLVER_Student.ipynb </a:t>
            </a:r>
          </a:p>
          <a:p>
            <a:pPr algn="just"/>
            <a:r>
              <a:rPr lang="en-US" b="1" kern="0" dirty="0">
                <a:solidFill>
                  <a:sysClr val="windowText" lastClr="000000"/>
                </a:solidFill>
              </a:rPr>
              <a:t>INSTRUCTIONS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We are going to work with different </a:t>
            </a:r>
            <a:r>
              <a:rPr lang="en-US" b="1" i="1" dirty="0"/>
              <a:t>Cross-Sections. </a:t>
            </a:r>
            <a:r>
              <a:rPr lang="en-US" dirty="0"/>
              <a:t>In general, we will need: </a:t>
            </a:r>
            <a:r>
              <a:rPr lang="en-US" b="1" i="1" dirty="0"/>
              <a:t>Materials</a:t>
            </a:r>
            <a:r>
              <a:rPr lang="en-US" dirty="0"/>
              <a:t> definitions and the </a:t>
            </a:r>
            <a:r>
              <a:rPr lang="en-US" b="1" dirty="0"/>
              <a:t>Geometrical</a:t>
            </a:r>
            <a:r>
              <a:rPr lang="en-US" dirty="0"/>
              <a:t> parameters of each Cross-section</a:t>
            </a:r>
            <a:r>
              <a:rPr lang="en-US" b="1" i="1" dirty="0"/>
              <a:t>.</a:t>
            </a:r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B99085AB-5BCA-5571-FA65-E3617707DBFA}"/>
              </a:ext>
            </a:extLst>
          </p:cNvPr>
          <p:cNvSpPr/>
          <p:nvPr/>
        </p:nvSpPr>
        <p:spPr>
          <a:xfrm>
            <a:off x="1245115" y="4499713"/>
            <a:ext cx="544195" cy="344805"/>
          </a:xfrm>
          <a:custGeom>
            <a:avLst/>
            <a:gdLst/>
            <a:ahLst/>
            <a:cxnLst/>
            <a:rect l="l" t="t" r="r" b="b"/>
            <a:pathLst>
              <a:path w="544195" h="344805">
                <a:moveTo>
                  <a:pt x="0" y="344424"/>
                </a:moveTo>
                <a:lnTo>
                  <a:pt x="544067" y="344424"/>
                </a:lnTo>
                <a:lnTo>
                  <a:pt x="544067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17590B25-6ABE-9620-2C63-B4856DDBCE5D}"/>
              </a:ext>
            </a:extLst>
          </p:cNvPr>
          <p:cNvSpPr/>
          <p:nvPr/>
        </p:nvSpPr>
        <p:spPr>
          <a:xfrm>
            <a:off x="1245115" y="4499713"/>
            <a:ext cx="544195" cy="344805"/>
          </a:xfrm>
          <a:custGeom>
            <a:avLst/>
            <a:gdLst/>
            <a:ahLst/>
            <a:cxnLst/>
            <a:rect l="l" t="t" r="r" b="b"/>
            <a:pathLst>
              <a:path w="544195" h="344805">
                <a:moveTo>
                  <a:pt x="0" y="344424"/>
                </a:moveTo>
                <a:lnTo>
                  <a:pt x="544067" y="344424"/>
                </a:lnTo>
                <a:lnTo>
                  <a:pt x="544067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ln w="12191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9">
            <a:extLst>
              <a:ext uri="{FF2B5EF4-FFF2-40B4-BE49-F238E27FC236}">
                <a16:creationId xmlns:a16="http://schemas.microsoft.com/office/drawing/2014/main" id="{854026DA-C7BC-391A-30F9-BF8D7187210E}"/>
              </a:ext>
            </a:extLst>
          </p:cNvPr>
          <p:cNvSpPr/>
          <p:nvPr/>
        </p:nvSpPr>
        <p:spPr>
          <a:xfrm>
            <a:off x="1245115" y="3905354"/>
            <a:ext cx="1323340" cy="594360"/>
          </a:xfrm>
          <a:custGeom>
            <a:avLst/>
            <a:gdLst/>
            <a:ahLst/>
            <a:cxnLst/>
            <a:rect l="l" t="t" r="r" b="b"/>
            <a:pathLst>
              <a:path w="1323340" h="594360">
                <a:moveTo>
                  <a:pt x="1322832" y="0"/>
                </a:moveTo>
                <a:lnTo>
                  <a:pt x="769493" y="0"/>
                </a:lnTo>
                <a:lnTo>
                  <a:pt x="0" y="594359"/>
                </a:lnTo>
                <a:lnTo>
                  <a:pt x="553338" y="594359"/>
                </a:lnTo>
                <a:lnTo>
                  <a:pt x="1322832" y="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10">
            <a:extLst>
              <a:ext uri="{FF2B5EF4-FFF2-40B4-BE49-F238E27FC236}">
                <a16:creationId xmlns:a16="http://schemas.microsoft.com/office/drawing/2014/main" id="{68F18FA1-D512-5553-8E16-C81F17B1FD4E}"/>
              </a:ext>
            </a:extLst>
          </p:cNvPr>
          <p:cNvSpPr/>
          <p:nvPr/>
        </p:nvSpPr>
        <p:spPr>
          <a:xfrm>
            <a:off x="1245115" y="3905354"/>
            <a:ext cx="1323340" cy="594360"/>
          </a:xfrm>
          <a:custGeom>
            <a:avLst/>
            <a:gdLst/>
            <a:ahLst/>
            <a:cxnLst/>
            <a:rect l="l" t="t" r="r" b="b"/>
            <a:pathLst>
              <a:path w="1323340" h="594360">
                <a:moveTo>
                  <a:pt x="0" y="594359"/>
                </a:moveTo>
                <a:lnTo>
                  <a:pt x="769493" y="0"/>
                </a:lnTo>
                <a:lnTo>
                  <a:pt x="1322832" y="0"/>
                </a:lnTo>
                <a:lnTo>
                  <a:pt x="553338" y="594359"/>
                </a:lnTo>
                <a:lnTo>
                  <a:pt x="0" y="594359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11">
            <a:extLst>
              <a:ext uri="{FF2B5EF4-FFF2-40B4-BE49-F238E27FC236}">
                <a16:creationId xmlns:a16="http://schemas.microsoft.com/office/drawing/2014/main" id="{B6F403B3-198D-766C-7FF5-06096D396DAF}"/>
              </a:ext>
            </a:extLst>
          </p:cNvPr>
          <p:cNvSpPr/>
          <p:nvPr/>
        </p:nvSpPr>
        <p:spPr>
          <a:xfrm>
            <a:off x="1789183" y="3905354"/>
            <a:ext cx="779145" cy="939165"/>
          </a:xfrm>
          <a:custGeom>
            <a:avLst/>
            <a:gdLst/>
            <a:ahLst/>
            <a:cxnLst/>
            <a:rect l="l" t="t" r="r" b="b"/>
            <a:pathLst>
              <a:path w="779145" h="939164">
                <a:moveTo>
                  <a:pt x="778763" y="0"/>
                </a:moveTo>
                <a:lnTo>
                  <a:pt x="0" y="593343"/>
                </a:lnTo>
                <a:lnTo>
                  <a:pt x="0" y="938783"/>
                </a:lnTo>
                <a:lnTo>
                  <a:pt x="778763" y="345439"/>
                </a:lnTo>
                <a:lnTo>
                  <a:pt x="778763" y="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12">
            <a:extLst>
              <a:ext uri="{FF2B5EF4-FFF2-40B4-BE49-F238E27FC236}">
                <a16:creationId xmlns:a16="http://schemas.microsoft.com/office/drawing/2014/main" id="{B4F33324-81A2-6D30-47DD-7A67FD038073}"/>
              </a:ext>
            </a:extLst>
          </p:cNvPr>
          <p:cNvSpPr/>
          <p:nvPr/>
        </p:nvSpPr>
        <p:spPr>
          <a:xfrm>
            <a:off x="1789183" y="3905354"/>
            <a:ext cx="779145" cy="939165"/>
          </a:xfrm>
          <a:custGeom>
            <a:avLst/>
            <a:gdLst/>
            <a:ahLst/>
            <a:cxnLst/>
            <a:rect l="l" t="t" r="r" b="b"/>
            <a:pathLst>
              <a:path w="779145" h="939164">
                <a:moveTo>
                  <a:pt x="778763" y="0"/>
                </a:moveTo>
                <a:lnTo>
                  <a:pt x="0" y="593343"/>
                </a:lnTo>
                <a:lnTo>
                  <a:pt x="0" y="938783"/>
                </a:lnTo>
                <a:lnTo>
                  <a:pt x="778763" y="345439"/>
                </a:lnTo>
                <a:lnTo>
                  <a:pt x="778763" y="0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13">
            <a:extLst>
              <a:ext uri="{FF2B5EF4-FFF2-40B4-BE49-F238E27FC236}">
                <a16:creationId xmlns:a16="http://schemas.microsoft.com/office/drawing/2014/main" id="{E5CE242A-CD6F-B6AA-8CF8-3F65AA839201}"/>
              </a:ext>
            </a:extLst>
          </p:cNvPr>
          <p:cNvSpPr/>
          <p:nvPr/>
        </p:nvSpPr>
        <p:spPr>
          <a:xfrm>
            <a:off x="659898" y="4205582"/>
            <a:ext cx="1858010" cy="1065530"/>
          </a:xfrm>
          <a:custGeom>
            <a:avLst/>
            <a:gdLst/>
            <a:ahLst/>
            <a:cxnLst/>
            <a:rect l="l" t="t" r="r" b="b"/>
            <a:pathLst>
              <a:path w="1858009" h="1065530">
                <a:moveTo>
                  <a:pt x="0" y="1065276"/>
                </a:moveTo>
                <a:lnTo>
                  <a:pt x="1857755" y="1065276"/>
                </a:lnTo>
                <a:lnTo>
                  <a:pt x="1857755" y="0"/>
                </a:lnTo>
                <a:lnTo>
                  <a:pt x="0" y="0"/>
                </a:lnTo>
                <a:lnTo>
                  <a:pt x="0" y="1065276"/>
                </a:lnTo>
                <a:close/>
              </a:path>
            </a:pathLst>
          </a:custGeom>
          <a:solidFill>
            <a:srgbClr val="7E7E7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18">
            <a:extLst>
              <a:ext uri="{FF2B5EF4-FFF2-40B4-BE49-F238E27FC236}">
                <a16:creationId xmlns:a16="http://schemas.microsoft.com/office/drawing/2014/main" id="{E00C02E3-A945-AC3C-8DDF-4BF7E88C3196}"/>
              </a:ext>
            </a:extLst>
          </p:cNvPr>
          <p:cNvSpPr/>
          <p:nvPr/>
        </p:nvSpPr>
        <p:spPr>
          <a:xfrm>
            <a:off x="458730" y="5106266"/>
            <a:ext cx="544195" cy="342900"/>
          </a:xfrm>
          <a:custGeom>
            <a:avLst/>
            <a:gdLst/>
            <a:ahLst/>
            <a:cxnLst/>
            <a:rect l="l" t="t" r="r" b="b"/>
            <a:pathLst>
              <a:path w="544195" h="342900">
                <a:moveTo>
                  <a:pt x="0" y="342900"/>
                </a:moveTo>
                <a:lnTo>
                  <a:pt x="544068" y="342900"/>
                </a:lnTo>
                <a:lnTo>
                  <a:pt x="544068" y="0"/>
                </a:lnTo>
                <a:lnTo>
                  <a:pt x="0" y="0"/>
                </a:lnTo>
                <a:lnTo>
                  <a:pt x="0" y="34290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19">
            <a:extLst>
              <a:ext uri="{FF2B5EF4-FFF2-40B4-BE49-F238E27FC236}">
                <a16:creationId xmlns:a16="http://schemas.microsoft.com/office/drawing/2014/main" id="{0ED35790-2683-BB1F-331A-34862F355D64}"/>
              </a:ext>
            </a:extLst>
          </p:cNvPr>
          <p:cNvSpPr/>
          <p:nvPr/>
        </p:nvSpPr>
        <p:spPr>
          <a:xfrm>
            <a:off x="458730" y="5106266"/>
            <a:ext cx="544195" cy="342900"/>
          </a:xfrm>
          <a:custGeom>
            <a:avLst/>
            <a:gdLst/>
            <a:ahLst/>
            <a:cxnLst/>
            <a:rect l="l" t="t" r="r" b="b"/>
            <a:pathLst>
              <a:path w="544195" h="342900">
                <a:moveTo>
                  <a:pt x="0" y="342900"/>
                </a:moveTo>
                <a:lnTo>
                  <a:pt x="544068" y="342900"/>
                </a:lnTo>
                <a:lnTo>
                  <a:pt x="544068" y="0"/>
                </a:lnTo>
                <a:lnTo>
                  <a:pt x="0" y="0"/>
                </a:lnTo>
                <a:lnTo>
                  <a:pt x="0" y="342900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20">
            <a:extLst>
              <a:ext uri="{FF2B5EF4-FFF2-40B4-BE49-F238E27FC236}">
                <a16:creationId xmlns:a16="http://schemas.microsoft.com/office/drawing/2014/main" id="{C74C0B99-9868-5B85-03B4-95E6CF78D9A3}"/>
              </a:ext>
            </a:extLst>
          </p:cNvPr>
          <p:cNvSpPr/>
          <p:nvPr/>
        </p:nvSpPr>
        <p:spPr>
          <a:xfrm>
            <a:off x="458730" y="4511906"/>
            <a:ext cx="1324610" cy="594360"/>
          </a:xfrm>
          <a:custGeom>
            <a:avLst/>
            <a:gdLst/>
            <a:ahLst/>
            <a:cxnLst/>
            <a:rect l="l" t="t" r="r" b="b"/>
            <a:pathLst>
              <a:path w="1324610" h="594360">
                <a:moveTo>
                  <a:pt x="1324356" y="0"/>
                </a:moveTo>
                <a:lnTo>
                  <a:pt x="769493" y="0"/>
                </a:lnTo>
                <a:lnTo>
                  <a:pt x="0" y="594360"/>
                </a:lnTo>
                <a:lnTo>
                  <a:pt x="554863" y="594360"/>
                </a:lnTo>
                <a:lnTo>
                  <a:pt x="1324356" y="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21">
            <a:extLst>
              <a:ext uri="{FF2B5EF4-FFF2-40B4-BE49-F238E27FC236}">
                <a16:creationId xmlns:a16="http://schemas.microsoft.com/office/drawing/2014/main" id="{0D0A668E-1248-C952-0D69-9AC115F5AEBD}"/>
              </a:ext>
            </a:extLst>
          </p:cNvPr>
          <p:cNvSpPr/>
          <p:nvPr/>
        </p:nvSpPr>
        <p:spPr>
          <a:xfrm>
            <a:off x="458730" y="4511906"/>
            <a:ext cx="1324610" cy="594360"/>
          </a:xfrm>
          <a:custGeom>
            <a:avLst/>
            <a:gdLst/>
            <a:ahLst/>
            <a:cxnLst/>
            <a:rect l="l" t="t" r="r" b="b"/>
            <a:pathLst>
              <a:path w="1324610" h="594360">
                <a:moveTo>
                  <a:pt x="0" y="594360"/>
                </a:moveTo>
                <a:lnTo>
                  <a:pt x="769493" y="0"/>
                </a:lnTo>
                <a:lnTo>
                  <a:pt x="1324356" y="0"/>
                </a:lnTo>
                <a:lnTo>
                  <a:pt x="554863" y="594360"/>
                </a:lnTo>
                <a:lnTo>
                  <a:pt x="0" y="594360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22">
            <a:extLst>
              <a:ext uri="{FF2B5EF4-FFF2-40B4-BE49-F238E27FC236}">
                <a16:creationId xmlns:a16="http://schemas.microsoft.com/office/drawing/2014/main" id="{9D87B857-066A-6AC9-C60A-5A69ADC38AAB}"/>
              </a:ext>
            </a:extLst>
          </p:cNvPr>
          <p:cNvSpPr/>
          <p:nvPr/>
        </p:nvSpPr>
        <p:spPr>
          <a:xfrm>
            <a:off x="1002798" y="4511906"/>
            <a:ext cx="780415" cy="937260"/>
          </a:xfrm>
          <a:custGeom>
            <a:avLst/>
            <a:gdLst/>
            <a:ahLst/>
            <a:cxnLst/>
            <a:rect l="l" t="t" r="r" b="b"/>
            <a:pathLst>
              <a:path w="780414" h="937260">
                <a:moveTo>
                  <a:pt x="780288" y="0"/>
                </a:moveTo>
                <a:lnTo>
                  <a:pt x="0" y="594613"/>
                </a:lnTo>
                <a:lnTo>
                  <a:pt x="0" y="937260"/>
                </a:lnTo>
                <a:lnTo>
                  <a:pt x="780288" y="342645"/>
                </a:lnTo>
                <a:lnTo>
                  <a:pt x="780288" y="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23">
            <a:extLst>
              <a:ext uri="{FF2B5EF4-FFF2-40B4-BE49-F238E27FC236}">
                <a16:creationId xmlns:a16="http://schemas.microsoft.com/office/drawing/2014/main" id="{218D47D4-6432-730D-48B9-7A6C6E31E473}"/>
              </a:ext>
            </a:extLst>
          </p:cNvPr>
          <p:cNvSpPr/>
          <p:nvPr/>
        </p:nvSpPr>
        <p:spPr>
          <a:xfrm>
            <a:off x="1002798" y="4511906"/>
            <a:ext cx="780415" cy="937260"/>
          </a:xfrm>
          <a:custGeom>
            <a:avLst/>
            <a:gdLst/>
            <a:ahLst/>
            <a:cxnLst/>
            <a:rect l="l" t="t" r="r" b="b"/>
            <a:pathLst>
              <a:path w="780414" h="937260">
                <a:moveTo>
                  <a:pt x="780288" y="0"/>
                </a:moveTo>
                <a:lnTo>
                  <a:pt x="0" y="594613"/>
                </a:lnTo>
                <a:lnTo>
                  <a:pt x="0" y="937260"/>
                </a:lnTo>
                <a:lnTo>
                  <a:pt x="780288" y="342645"/>
                </a:lnTo>
                <a:lnTo>
                  <a:pt x="780288" y="0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33">
            <a:extLst>
              <a:ext uri="{FF2B5EF4-FFF2-40B4-BE49-F238E27FC236}">
                <a16:creationId xmlns:a16="http://schemas.microsoft.com/office/drawing/2014/main" id="{1ADEEC13-CD1C-B10C-519D-C80EDB6B6995}"/>
              </a:ext>
            </a:extLst>
          </p:cNvPr>
          <p:cNvSpPr txBox="1"/>
          <p:nvPr/>
        </p:nvSpPr>
        <p:spPr>
          <a:xfrm>
            <a:off x="1438790" y="5254855"/>
            <a:ext cx="10661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XY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5" dirty="0">
                <a:latin typeface="Calibri"/>
                <a:cs typeface="Calibri"/>
              </a:rPr>
              <a:t>Cross-section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3213753" y="3715837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4058049" y="4276669"/>
            <a:ext cx="76200" cy="986155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3402119" y="4503822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  <a:endParaRPr sz="140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4295793" y="4066357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4815731" y="3825642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4295793" y="4276669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6294976" y="4631165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3" name="Flecha: a la derecha 102">
            <a:extLst>
              <a:ext uri="{FF2B5EF4-FFF2-40B4-BE49-F238E27FC236}">
                <a16:creationId xmlns:a16="http://schemas.microsoft.com/office/drawing/2014/main" id="{9104F8E7-45F4-CD32-78F2-E3303B105AF2}"/>
              </a:ext>
            </a:extLst>
          </p:cNvPr>
          <p:cNvSpPr/>
          <p:nvPr/>
        </p:nvSpPr>
        <p:spPr>
          <a:xfrm>
            <a:off x="2652837" y="4587205"/>
            <a:ext cx="390281" cy="177451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749273" y="3715837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8831313" y="4066357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9351251" y="3825642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8831313" y="4276669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10830496" y="4631165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20" name="object 73">
            <a:extLst>
              <a:ext uri="{FF2B5EF4-FFF2-40B4-BE49-F238E27FC236}">
                <a16:creationId xmlns:a16="http://schemas.microsoft.com/office/drawing/2014/main" id="{C699977C-9138-F9B9-E43D-0CCB01AEB75F}"/>
              </a:ext>
            </a:extLst>
          </p:cNvPr>
          <p:cNvSpPr txBox="1"/>
          <p:nvPr/>
        </p:nvSpPr>
        <p:spPr>
          <a:xfrm>
            <a:off x="7749273" y="4983731"/>
            <a:ext cx="39061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lang="es-ES" sz="2350" dirty="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</a:pPr>
            <a:r>
              <a:rPr lang="es-ES" sz="1600" b="1" spc="-10" dirty="0" err="1">
                <a:latin typeface="Calibri"/>
                <a:cs typeface="Calibri"/>
              </a:rPr>
              <a:t>Slab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2" name="object 62">
            <a:extLst>
              <a:ext uri="{FF2B5EF4-FFF2-40B4-BE49-F238E27FC236}">
                <a16:creationId xmlns:a16="http://schemas.microsoft.com/office/drawing/2014/main" id="{04561701-4B4F-F208-98F6-2DAB5C1138D3}"/>
              </a:ext>
            </a:extLst>
          </p:cNvPr>
          <p:cNvSpPr/>
          <p:nvPr/>
        </p:nvSpPr>
        <p:spPr>
          <a:xfrm>
            <a:off x="8933783" y="4287133"/>
            <a:ext cx="56259" cy="694989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62">
            <a:extLst>
              <a:ext uri="{FF2B5EF4-FFF2-40B4-BE49-F238E27FC236}">
                <a16:creationId xmlns:a16="http://schemas.microsoft.com/office/drawing/2014/main" id="{CCA3B0D6-0C9E-B4A6-FA43-1AB5F1821674}"/>
              </a:ext>
            </a:extLst>
          </p:cNvPr>
          <p:cNvSpPr/>
          <p:nvPr/>
        </p:nvSpPr>
        <p:spPr>
          <a:xfrm>
            <a:off x="8591080" y="4982122"/>
            <a:ext cx="55008" cy="613272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63">
            <a:extLst>
              <a:ext uri="{FF2B5EF4-FFF2-40B4-BE49-F238E27FC236}">
                <a16:creationId xmlns:a16="http://schemas.microsoft.com/office/drawing/2014/main" id="{6394166D-0522-24AD-E666-39FE8A3FDC24}"/>
              </a:ext>
            </a:extLst>
          </p:cNvPr>
          <p:cNvSpPr txBox="1"/>
          <p:nvPr/>
        </p:nvSpPr>
        <p:spPr>
          <a:xfrm>
            <a:off x="8709867" y="5180039"/>
            <a:ext cx="674053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dirty="0" err="1">
                <a:latin typeface="Calibri"/>
                <a:cs typeface="Calibri"/>
              </a:rPr>
              <a:t>h_slab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2" name="object 63">
            <a:extLst>
              <a:ext uri="{FF2B5EF4-FFF2-40B4-BE49-F238E27FC236}">
                <a16:creationId xmlns:a16="http://schemas.microsoft.com/office/drawing/2014/main" id="{B589EB7D-B26E-4239-A5C2-F96DBBE82162}"/>
              </a:ext>
            </a:extLst>
          </p:cNvPr>
          <p:cNvSpPr txBox="1"/>
          <p:nvPr/>
        </p:nvSpPr>
        <p:spPr>
          <a:xfrm>
            <a:off x="9064251" y="4282997"/>
            <a:ext cx="138017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spc="-10" dirty="0" err="1">
                <a:latin typeface="Calibri"/>
                <a:cs typeface="Calibri"/>
              </a:rPr>
              <a:t>h_core</a:t>
            </a:r>
            <a:r>
              <a:rPr lang="es-ES" sz="1400" spc="-10" dirty="0">
                <a:latin typeface="Calibri"/>
                <a:cs typeface="Calibri"/>
              </a:rPr>
              <a:t> 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9664364" y="5549983"/>
            <a:ext cx="198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shallow</a:t>
            </a:r>
            <a:r>
              <a:rPr lang="en-US" dirty="0"/>
              <a:t> waveguide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5280887" y="5549983"/>
            <a:ext cx="215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</p:txBody>
      </p:sp>
    </p:spTree>
    <p:extLst>
      <p:ext uri="{BB962C8B-B14F-4D97-AF65-F5344CB8AC3E}">
        <p14:creationId xmlns:p14="http://schemas.microsoft.com/office/powerpoint/2010/main" val="56023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Effective index of a waveguide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AA9E72FF-B948-6B7A-8909-97C6BE95D6FB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INSTRUCTOR: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Present Python and </a:t>
            </a:r>
            <a:r>
              <a:rPr lang="en-US" sz="2000" dirty="0" err="1"/>
              <a:t>GDSFactory</a:t>
            </a:r>
            <a:r>
              <a:rPr lang="en-US" sz="2000" dirty="0"/>
              <a:t>: materials, output, results.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Explain how to run a simulation for a particular cross-section.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Showcase how to change between shallow and deep waveguide.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Describe how to change the wavelength and width for the waveguide analysis.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Describe the outputs.</a:t>
            </a:r>
          </a:p>
          <a:p>
            <a:pPr marL="0" indent="0" algn="just">
              <a:buNone/>
            </a:pPr>
            <a:r>
              <a:rPr lang="en-US" sz="2000" b="1" dirty="0"/>
              <a:t>ALL EXAMPLE #1: </a:t>
            </a:r>
            <a:r>
              <a:rPr lang="en-US" sz="2000" dirty="0"/>
              <a:t>waveguide width 1.2 µm, deep </a:t>
            </a:r>
            <a:r>
              <a:rPr lang="en-US" sz="2000" dirty="0" err="1"/>
              <a:t>wvg</a:t>
            </a:r>
            <a:r>
              <a:rPr lang="en-US" sz="2000" dirty="0"/>
              <a:t>, wavelength start and end same 1.55 µm </a:t>
            </a:r>
            <a:r>
              <a:rPr lang="en-US" sz="2000" dirty="0">
                <a:sym typeface="Wingdings" pitchFamily="2" charset="2"/>
              </a:rPr>
              <a:t> all ”Run”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b="1" dirty="0"/>
              <a:t>ALL: </a:t>
            </a:r>
            <a:r>
              <a:rPr lang="en-US" sz="2000" dirty="0"/>
              <a:t>Follow</a:t>
            </a:r>
            <a:r>
              <a:rPr lang="en-US" sz="2000" b="1" dirty="0"/>
              <a:t> </a:t>
            </a:r>
            <a:r>
              <a:rPr lang="en-US" sz="2000" dirty="0"/>
              <a:t>instructor, that will show how to 1) plot mode, 2) explore the results (neff …)</a:t>
            </a:r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D0F8CF3B-B920-DBFC-F825-0C87B51EADA7}"/>
                  </a:ext>
                </a:extLst>
              </p:cNvPr>
              <p:cNvSpPr txBox="1"/>
              <p:nvPr/>
            </p:nvSpPr>
            <p:spPr>
              <a:xfrm>
                <a:off x="609441" y="4191000"/>
                <a:ext cx="11199971" cy="213956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E0700D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Document all your results (neff, plot fields of different modes, comparison between different polarizations…)</a:t>
                </a:r>
              </a:p>
              <a:p>
                <a:r>
                  <a:rPr lang="es-ES" sz="1200" dirty="0"/>
                  <a:t>In </a:t>
                </a:r>
                <a:r>
                  <a:rPr lang="es-ES" sz="1200" dirty="0" err="1"/>
                  <a:t>this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introductory</a:t>
                </a:r>
                <a:r>
                  <a:rPr lang="es-ES" sz="1200" dirty="0"/>
                  <a:t> </a:t>
                </a:r>
                <a:r>
                  <a:rPr lang="es-ES" sz="1200" dirty="0" err="1"/>
                  <a:t>benchmark</a:t>
                </a:r>
                <a:r>
                  <a:rPr lang="es-ES" sz="1200" dirty="0"/>
                  <a:t> (</a:t>
                </a:r>
                <a:r>
                  <a:rPr lang="es-ES" sz="1200" dirty="0" err="1"/>
                  <a:t>Learning</a:t>
                </a:r>
                <a:r>
                  <a:rPr lang="es-ES" sz="1200" dirty="0"/>
                  <a:t> </a:t>
                </a:r>
                <a:r>
                  <a:rPr lang="es-ES" sz="1200" dirty="0" err="1"/>
                  <a:t>Outcome</a:t>
                </a:r>
                <a:r>
                  <a:rPr lang="es-ES" sz="1200" dirty="0"/>
                  <a:t> #1), a </a:t>
                </a:r>
                <a:r>
                  <a:rPr lang="es-ES" sz="1200" dirty="0" err="1"/>
                  <a:t>deep-etched</a:t>
                </a:r>
                <a:r>
                  <a:rPr lang="es-ES" sz="1200" dirty="0"/>
                  <a:t> </a:t>
                </a:r>
                <a:r>
                  <a:rPr lang="es-ES" sz="1200" dirty="0" err="1"/>
                  <a:t>silicon</a:t>
                </a:r>
                <a:r>
                  <a:rPr lang="es-ES" sz="1200" dirty="0"/>
                  <a:t> </a:t>
                </a:r>
                <a:r>
                  <a:rPr lang="es-ES" sz="1200" dirty="0" err="1"/>
                  <a:t>nitride</a:t>
                </a:r>
                <a:r>
                  <a:rPr lang="es-ES" sz="12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1200"/>
                          <m:t>Si</m:t>
                        </m:r>
                      </m:e>
                      <m:sub>
                        <m:r>
                          <a:rPr lang="es-ES" sz="1200"/>
                          <m:t>3</m:t>
                        </m:r>
                      </m:sub>
                    </m:sSub>
                    <m:sSub>
                      <m:sSubPr>
                        <m:ctrlPr>
                          <a:rPr lang="es-ES" sz="120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1200"/>
                          <m:t>N</m:t>
                        </m:r>
                      </m:e>
                      <m:sub>
                        <m:r>
                          <a:rPr lang="es-ES" sz="1200"/>
                          <m:t>4</m:t>
                        </m:r>
                      </m:sub>
                    </m:sSub>
                  </m:oMath>
                </a14:m>
                <a:r>
                  <a:rPr lang="es-ES" sz="1200" dirty="0"/>
                  <a:t>) </a:t>
                </a:r>
                <a:r>
                  <a:rPr lang="es-ES" sz="1200" dirty="0" err="1"/>
                  <a:t>strip</a:t>
                </a:r>
                <a:r>
                  <a:rPr lang="es-ES" sz="1200" dirty="0"/>
                  <a:t> </a:t>
                </a:r>
                <a:r>
                  <a:rPr lang="es-ES" sz="1200" dirty="0" err="1"/>
                  <a:t>waveguide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embedded</a:t>
                </a:r>
                <a:r>
                  <a:rPr lang="es-ES" sz="1200" dirty="0"/>
                  <a:t> in </a:t>
                </a:r>
                <a:r>
                  <a:rPr lang="es-ES" sz="1200" dirty="0" err="1"/>
                  <a:t>silicon</a:t>
                </a:r>
                <a:r>
                  <a:rPr lang="es-ES" sz="1200" dirty="0"/>
                  <a:t> </a:t>
                </a:r>
                <a:r>
                  <a:rPr lang="es-ES" sz="1200" dirty="0" err="1"/>
                  <a:t>dioxide</a:t>
                </a:r>
                <a:r>
                  <a:rPr lang="es-ES" sz="12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1200"/>
                          <m:t>SiO</m:t>
                        </m:r>
                      </m:e>
                      <m:sub>
                        <m:r>
                          <a:rPr lang="es-ES" sz="1200"/>
                          <m:t>2</m:t>
                        </m:r>
                      </m:sub>
                    </m:sSub>
                  </m:oMath>
                </a14:m>
                <a:r>
                  <a:rPr lang="es-ES" sz="1200" dirty="0"/>
                  <a:t>) </a:t>
                </a:r>
                <a:r>
                  <a:rPr lang="es-ES" sz="1200" dirty="0" err="1"/>
                  <a:t>was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modeled</a:t>
                </a:r>
                <a:r>
                  <a:rPr lang="es-ES" sz="1200" dirty="0"/>
                  <a:t> </a:t>
                </a:r>
                <a:r>
                  <a:rPr lang="es-ES" sz="1200" dirty="0" err="1"/>
                  <a:t>using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Tidy3D finite-</a:t>
                </a:r>
                <a:r>
                  <a:rPr lang="es-ES" sz="1200" dirty="0" err="1"/>
                  <a:t>difference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mode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solver</a:t>
                </a:r>
                <a:r>
                  <a:rPr lang="es-ES" sz="1200" dirty="0"/>
                  <a:t> (</a:t>
                </a:r>
                <a:r>
                  <a:rPr lang="es-ES" sz="1200" dirty="0" err="1"/>
                  <a:t>gt.modes.Waveguide</a:t>
                </a:r>
                <a:r>
                  <a:rPr lang="es-ES" sz="1200" dirty="0"/>
                  <a:t>). The </a:t>
                </a:r>
                <a:r>
                  <a:rPr lang="es-ES" sz="1200" dirty="0" err="1"/>
                  <a:t>cross-section</a:t>
                </a:r>
                <a:r>
                  <a:rPr lang="es-ES" sz="1200" dirty="0"/>
                  <a:t> </a:t>
                </a:r>
                <a:r>
                  <a:rPr lang="es-ES" sz="1200" dirty="0" err="1"/>
                  <a:t>features</a:t>
                </a:r>
                <a:r>
                  <a:rPr lang="es-ES" sz="1200" dirty="0"/>
                  <a:t> a </a:t>
                </a:r>
                <a:r>
                  <a:rPr lang="es-ES" sz="1200" dirty="0" err="1"/>
                  <a:t>core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width</a:t>
                </a:r>
                <a:r>
                  <a:rPr lang="es-ES" sz="1200" dirty="0"/>
                  <a:t> </a:t>
                </a:r>
                <a:r>
                  <a:rPr lang="es-ES" sz="1200" dirty="0" err="1"/>
                  <a:t>of</a:t>
                </a:r>
                <a:r>
                  <a:rPr lang="es-ES" sz="1200" dirty="0"/>
                  <a:t> </a:t>
                </a:r>
                <a14:m>
                  <m:oMath xmlns:m="http://schemas.openxmlformats.org/officeDocument/2006/math">
                    <m:r>
                      <a:rPr lang="es-ES" sz="1200"/>
                      <m:t>1.2 </m:t>
                    </m:r>
                    <m:r>
                      <a:rPr lang="es-ES" sz="1200" i="1"/>
                      <m:t>𝜇</m:t>
                    </m:r>
                    <m:r>
                      <m:rPr>
                        <m:sty m:val="p"/>
                      </m:rPr>
                      <a:rPr lang="es-ES" sz="1200"/>
                      <m:t>m</m:t>
                    </m:r>
                  </m:oMath>
                </a14:m>
                <a:r>
                  <a:rPr lang="es-ES" sz="1200" dirty="0"/>
                  <a:t>, a </a:t>
                </a:r>
                <a:r>
                  <a:rPr lang="es-ES" sz="1200" dirty="0" err="1"/>
                  <a:t>core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height</a:t>
                </a:r>
                <a:r>
                  <a:rPr lang="es-ES" sz="1200" dirty="0"/>
                  <a:t> </a:t>
                </a:r>
                <a:r>
                  <a:rPr lang="es-ES" sz="1200" dirty="0" err="1"/>
                  <a:t>of</a:t>
                </a:r>
                <a:r>
                  <a:rPr lang="es-ES" sz="1200" dirty="0"/>
                  <a:t> </a:t>
                </a:r>
                <a14:m>
                  <m:oMath xmlns:m="http://schemas.openxmlformats.org/officeDocument/2006/math">
                    <m:r>
                      <a:rPr lang="es-ES" sz="1200"/>
                      <m:t>300 </m:t>
                    </m:r>
                    <m:r>
                      <m:rPr>
                        <m:sty m:val="p"/>
                      </m:rPr>
                      <a:rPr lang="es-ES" sz="1200"/>
                      <m:t>nm</m:t>
                    </m:r>
                  </m:oMath>
                </a14:m>
                <a:r>
                  <a:rPr lang="es-ES" sz="1200" dirty="0"/>
                  <a:t>, and a </a:t>
                </a:r>
                <a:r>
                  <a:rPr lang="es-ES" sz="1200" dirty="0" err="1"/>
                  <a:t>slab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thickness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of</a:t>
                </a:r>
                <a:r>
                  <a:rPr lang="es-ES" sz="1200" dirty="0"/>
                  <a:t> </a:t>
                </a:r>
                <a14:m>
                  <m:oMath xmlns:m="http://schemas.openxmlformats.org/officeDocument/2006/math">
                    <m:r>
                      <a:rPr lang="es-ES" sz="1200"/>
                      <m:t>0 </m:t>
                    </m:r>
                    <m:r>
                      <m:rPr>
                        <m:sty m:val="p"/>
                      </m:rPr>
                      <a:rPr lang="es-ES" sz="1200"/>
                      <m:t>nm</m:t>
                    </m:r>
                    <m:r>
                      <a:rPr lang="es-ES" sz="12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1200" dirty="0" err="1"/>
                  <a:t>operating</a:t>
                </a:r>
                <a:r>
                  <a:rPr lang="es-ES" sz="1200" dirty="0"/>
                  <a:t> at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telecom</a:t>
                </a:r>
                <a:r>
                  <a:rPr lang="es-ES" sz="1200" dirty="0"/>
                  <a:t> </a:t>
                </a:r>
                <a:r>
                  <a:rPr lang="es-ES" sz="1200" dirty="0" err="1"/>
                  <a:t>design</a:t>
                </a:r>
                <a:r>
                  <a:rPr lang="es-ES" sz="1200" dirty="0"/>
                  <a:t> </a:t>
                </a:r>
                <a:r>
                  <a:rPr lang="es-ES" sz="1200" dirty="0" err="1"/>
                  <a:t>wavelength</a:t>
                </a:r>
                <a:r>
                  <a:rPr lang="es-E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/>
                        </m:ctrlPr>
                      </m:sSubPr>
                      <m:e>
                        <m:r>
                          <a:rPr lang="es-ES" sz="1200" i="1"/>
                          <m:t>𝜆</m:t>
                        </m:r>
                      </m:e>
                      <m:sub>
                        <m:r>
                          <a:rPr lang="es-ES" sz="1200"/>
                          <m:t>0</m:t>
                        </m:r>
                      </m:sub>
                    </m:sSub>
                    <m:r>
                      <a:rPr lang="es-ES" sz="1200"/>
                      <m:t>=1.55 </m:t>
                    </m:r>
                    <m:r>
                      <a:rPr lang="es-ES" sz="1200" i="1"/>
                      <m:t>𝜇</m:t>
                    </m:r>
                    <m:r>
                      <m:rPr>
                        <m:sty m:val="p"/>
                      </m:rPr>
                      <a:rPr lang="es-ES" sz="1200"/>
                      <m:t>m</m:t>
                    </m:r>
                  </m:oMath>
                </a14:m>
                <a:r>
                  <a:rPr lang="es-ES" sz="1200" dirty="0"/>
                  <a:t>.</a:t>
                </a:r>
              </a:p>
              <a:p>
                <a:endParaRPr lang="es-ES" sz="1200" dirty="0"/>
              </a:p>
              <a:p>
                <a:r>
                  <a:rPr lang="es-ES" sz="1200" dirty="0"/>
                  <a:t>The </a:t>
                </a:r>
                <a:r>
                  <a:rPr lang="es-ES" sz="1200" dirty="0" err="1"/>
                  <a:t>numerical</a:t>
                </a:r>
                <a:r>
                  <a:rPr lang="es-ES" sz="1200" dirty="0"/>
                  <a:t> </a:t>
                </a:r>
                <a:r>
                  <a:rPr lang="es-ES" sz="1200" dirty="0" err="1"/>
                  <a:t>mode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analysis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extracts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complex</a:t>
                </a:r>
                <a:r>
                  <a:rPr lang="es-ES" sz="1200" dirty="0"/>
                  <a:t> </a:t>
                </a:r>
                <a:r>
                  <a:rPr lang="es-ES" sz="1200" dirty="0" err="1"/>
                  <a:t>effective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indices</a:t>
                </a:r>
                <a:r>
                  <a:rPr lang="es-ES" sz="12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/>
                        </m:ctrlPr>
                      </m:sSubPr>
                      <m:e>
                        <m:r>
                          <a:rPr lang="es-ES" sz="1200" i="1"/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S" sz="1200"/>
                          <m:t>eff</m:t>
                        </m:r>
                      </m:sub>
                    </m:sSub>
                  </m:oMath>
                </a14:m>
                <a:r>
                  <a:rPr lang="es-ES" sz="1200" dirty="0"/>
                  <a:t>) </a:t>
                </a:r>
                <a:r>
                  <a:rPr lang="es-ES" sz="1200" dirty="0" err="1"/>
                  <a:t>along</a:t>
                </a:r>
                <a:r>
                  <a:rPr lang="es-ES" sz="1200" dirty="0"/>
                  <a:t> </a:t>
                </a:r>
                <a:r>
                  <a:rPr lang="es-ES" sz="1200" dirty="0" err="1"/>
                  <a:t>with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respective TE and TM </a:t>
                </a:r>
                <a:r>
                  <a:rPr lang="es-ES" sz="1200" dirty="0" err="1"/>
                  <a:t>polarization</a:t>
                </a:r>
                <a:r>
                  <a:rPr lang="es-ES" sz="1200" dirty="0"/>
                  <a:t> </a:t>
                </a:r>
                <a:r>
                  <a:rPr lang="es-ES" sz="1200" dirty="0" err="1"/>
                  <a:t>fractions</a:t>
                </a:r>
                <a:r>
                  <a:rPr lang="es-ES" sz="1200" dirty="0"/>
                  <a:t>. The fundamental </a:t>
                </a:r>
                <a:r>
                  <a:rPr lang="es-ES" sz="1200" dirty="0" err="1"/>
                  <a:t>mode</a:t>
                </a:r>
                <a:r>
                  <a:rPr lang="es-ES" sz="1200" dirty="0"/>
                  <a:t> (Mode 0) </a:t>
                </a:r>
                <a:r>
                  <a:rPr lang="es-ES" sz="1200" dirty="0" err="1"/>
                  <a:t>exhibits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strong</a:t>
                </a:r>
                <a:r>
                  <a:rPr lang="es-ES" sz="1200" dirty="0"/>
                  <a:t> </a:t>
                </a:r>
                <a:r>
                  <a:rPr lang="es-ES" sz="1200" dirty="0" err="1"/>
                  <a:t>optical</a:t>
                </a:r>
                <a:r>
                  <a:rPr lang="es-ES" sz="1200" dirty="0"/>
                  <a:t> </a:t>
                </a:r>
                <a:r>
                  <a:rPr lang="es-ES" sz="1200" dirty="0" err="1"/>
                  <a:t>confinement</a:t>
                </a:r>
                <a:r>
                  <a:rPr lang="es-ES" sz="1200" dirty="0"/>
                  <a:t> </a:t>
                </a:r>
                <a:r>
                  <a:rPr lang="es-ES" sz="1200" dirty="0" err="1"/>
                  <a:t>within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high-index</a:t>
                </a:r>
                <a:r>
                  <a:rPr lang="es-ES" sz="1200" dirty="0"/>
                  <a:t> </a:t>
                </a:r>
                <a:r>
                  <a:rPr lang="es-ES" sz="1200" dirty="0" err="1"/>
                  <a:t>nitride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core</a:t>
                </a:r>
                <a:r>
                  <a:rPr lang="es-ES" sz="12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/>
                        </m:ctrlPr>
                      </m:sSubPr>
                      <m:e>
                        <m:r>
                          <a:rPr lang="es-ES" sz="1200" i="1"/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S" sz="1200"/>
                          <m:t>core</m:t>
                        </m:r>
                      </m:sub>
                    </m:sSub>
                    <m:r>
                      <a:rPr lang="es-ES" sz="1200"/>
                      <m:t>≈1.996</m:t>
                    </m:r>
                  </m:oMath>
                </a14:m>
                <a:r>
                  <a:rPr lang="es-ES" sz="1200" dirty="0"/>
                  <a:t>), </a:t>
                </a:r>
                <a:r>
                  <a:rPr lang="es-ES" sz="1200" dirty="0" err="1"/>
                  <a:t>yielding</a:t>
                </a:r>
                <a:r>
                  <a:rPr lang="es-E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/>
                        </m:ctrlPr>
                      </m:sSubPr>
                      <m:e>
                        <m:r>
                          <a:rPr lang="es-ES" sz="1200" i="1"/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S" sz="1200"/>
                          <m:t>eff</m:t>
                        </m:r>
                      </m:sub>
                    </m:sSub>
                    <m:r>
                      <a:rPr lang="es-ES" sz="1200"/>
                      <m:t>≈1.6052</m:t>
                    </m:r>
                  </m:oMath>
                </a14:m>
                <a:r>
                  <a:rPr lang="es-ES" sz="1200" dirty="0" err="1"/>
                  <a:t>with</a:t>
                </a:r>
                <a:r>
                  <a:rPr lang="es-ES" sz="1200" dirty="0"/>
                  <a:t> a </a:t>
                </a:r>
                <a14:m>
                  <m:oMath xmlns:m="http://schemas.openxmlformats.org/officeDocument/2006/math">
                    <m:r>
                      <a:rPr lang="es-ES" sz="1200"/>
                      <m:t>&gt;99.5%</m:t>
                    </m:r>
                  </m:oMath>
                </a14:m>
                <a:r>
                  <a:rPr lang="es-ES" sz="1200" dirty="0"/>
                  <a:t>TE </a:t>
                </a:r>
                <a:r>
                  <a:rPr lang="es-ES" sz="1200" dirty="0" err="1"/>
                  <a:t>polarization</a:t>
                </a:r>
                <a:r>
                  <a:rPr lang="es-ES" sz="1200" dirty="0"/>
                  <a:t> </a:t>
                </a:r>
                <a:r>
                  <a:rPr lang="es-ES" sz="1200" dirty="0" err="1"/>
                  <a:t>fraction</a:t>
                </a:r>
                <a:r>
                  <a:rPr lang="es-ES" sz="1200" dirty="0"/>
                  <a:t>. The </a:t>
                </a:r>
                <a:r>
                  <a:rPr lang="es-ES" sz="1200" dirty="0" err="1"/>
                  <a:t>first</a:t>
                </a:r>
                <a:r>
                  <a:rPr lang="es-ES" sz="1200" dirty="0"/>
                  <a:t> </a:t>
                </a:r>
                <a:r>
                  <a:rPr lang="es-ES" sz="1200" dirty="0" err="1"/>
                  <a:t>higher-order</a:t>
                </a:r>
                <a:r>
                  <a:rPr lang="es-ES" sz="1200" dirty="0"/>
                  <a:t> </a:t>
                </a:r>
                <a:r>
                  <a:rPr lang="es-ES" sz="1200" dirty="0" err="1"/>
                  <a:t>orthogonal</a:t>
                </a:r>
                <a:r>
                  <a:rPr lang="es-ES" sz="1200" dirty="0"/>
                  <a:t> </a:t>
                </a:r>
                <a:r>
                  <a:rPr lang="es-ES" sz="1200" dirty="0" err="1"/>
                  <a:t>mode</a:t>
                </a:r>
                <a:r>
                  <a:rPr lang="es-ES" sz="1200" dirty="0"/>
                  <a:t> (Mode 1) </a:t>
                </a:r>
                <a:r>
                  <a:rPr lang="es-ES" sz="1200" dirty="0" err="1"/>
                  <a:t>is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predominantly</a:t>
                </a:r>
                <a:r>
                  <a:rPr lang="es-ES" sz="1200" dirty="0"/>
                  <a:t> TM-</a:t>
                </a:r>
                <a:r>
                  <a:rPr lang="es-ES" sz="1200" dirty="0" err="1"/>
                  <a:t>polarized</a:t>
                </a:r>
                <a:r>
                  <a:rPr lang="es-ES" sz="1200" dirty="0"/>
                  <a:t> (</a:t>
                </a:r>
                <a14:m>
                  <m:oMath xmlns:m="http://schemas.openxmlformats.org/officeDocument/2006/math">
                    <m:r>
                      <a:rPr lang="es-ES" sz="1200"/>
                      <m:t>99.0%</m:t>
                    </m:r>
                  </m:oMath>
                </a14:m>
                <a:r>
                  <a:rPr lang="es-ES" sz="1200" dirty="0"/>
                  <a:t>) </a:t>
                </a:r>
                <a:r>
                  <a:rPr lang="es-ES" sz="1200" dirty="0" err="1"/>
                  <a:t>with</a:t>
                </a:r>
                <a:r>
                  <a:rPr lang="es-E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/>
                        </m:ctrlPr>
                      </m:sSubPr>
                      <m:e>
                        <m:r>
                          <a:rPr lang="es-ES" sz="1200" i="1"/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S" sz="1200"/>
                          <m:t>eff</m:t>
                        </m:r>
                      </m:sub>
                    </m:sSub>
                    <m:r>
                      <a:rPr lang="es-ES" sz="1200"/>
                      <m:t>≈1.5283</m:t>
                    </m:r>
                  </m:oMath>
                </a14:m>
                <a:r>
                  <a:rPr lang="es-ES" sz="1200" dirty="0"/>
                  <a:t>. </a:t>
                </a:r>
              </a:p>
              <a:p>
                <a:r>
                  <a:rPr lang="es-ES" sz="1200" dirty="0" err="1"/>
                  <a:t>To</a:t>
                </a:r>
                <a:r>
                  <a:rPr lang="es-ES" sz="1200" dirty="0"/>
                  <a:t> </a:t>
                </a:r>
                <a:r>
                  <a:rPr lang="es-ES" sz="1200" dirty="0" err="1"/>
                  <a:t>evaluate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physical</a:t>
                </a:r>
                <a:r>
                  <a:rPr lang="es-ES" sz="1200" dirty="0"/>
                  <a:t> </a:t>
                </a:r>
                <a:r>
                  <a:rPr lang="es-ES" sz="1200" dirty="0" err="1"/>
                  <a:t>mode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guiding</a:t>
                </a:r>
                <a:r>
                  <a:rPr lang="es-ES" sz="1200" dirty="0"/>
                  <a:t>, </a:t>
                </a:r>
                <a:r>
                  <a:rPr lang="es-ES" sz="1200" dirty="0" err="1"/>
                  <a:t>effective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indices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must</a:t>
                </a:r>
                <a:r>
                  <a:rPr lang="es-ES" sz="1200" dirty="0"/>
                  <a:t> be </a:t>
                </a:r>
                <a:r>
                  <a:rPr lang="es-ES" sz="1200" dirty="0" err="1"/>
                  <a:t>benchmarked</a:t>
                </a:r>
                <a:r>
                  <a:rPr lang="es-ES" sz="1200" dirty="0"/>
                  <a:t> </a:t>
                </a:r>
                <a:r>
                  <a:rPr lang="es-ES" sz="1200" dirty="0" err="1"/>
                  <a:t>against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surrounding</a:t>
                </a:r>
                <a:r>
                  <a:rPr lang="es-ES" sz="1200" dirty="0"/>
                  <a:t> </a:t>
                </a:r>
                <a:r>
                  <a:rPr lang="es-ES" sz="1200" dirty="0" err="1"/>
                  <a:t>cladding</a:t>
                </a:r>
                <a:r>
                  <a:rPr lang="es-ES" sz="1200" dirty="0"/>
                  <a:t> </a:t>
                </a:r>
                <a:r>
                  <a:rPr lang="es-ES" sz="1200" dirty="0" err="1"/>
                  <a:t>index</a:t>
                </a:r>
                <a:r>
                  <a:rPr lang="es-ES" sz="12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/>
                        </m:ctrlPr>
                      </m:sSubPr>
                      <m:e>
                        <m:r>
                          <a:rPr lang="es-ES" sz="1200" i="1"/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s-ES" sz="1200"/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ES" sz="1200"/>
                              <m:t>SiO</m:t>
                            </m:r>
                          </m:e>
                          <m:sub>
                            <m:r>
                              <a:rPr lang="es-ES" sz="1200"/>
                              <m:t>2</m:t>
                            </m:r>
                          </m:sub>
                        </m:sSub>
                      </m:sub>
                    </m:sSub>
                    <m:r>
                      <a:rPr lang="es-ES" sz="1200"/>
                      <m:t>≈1.444</m:t>
                    </m:r>
                  </m:oMath>
                </a14:m>
                <a:r>
                  <a:rPr lang="es-ES" sz="1200" dirty="0"/>
                  <a:t>). While Modes 0 and 1 are </a:t>
                </a:r>
                <a:r>
                  <a:rPr lang="es-ES" sz="1200" dirty="0" err="1"/>
                  <a:t>strictly</a:t>
                </a:r>
                <a:r>
                  <a:rPr lang="es-ES" sz="1200" dirty="0"/>
                  <a:t> </a:t>
                </a:r>
                <a:r>
                  <a:rPr lang="es-ES" sz="1200" dirty="0" err="1"/>
                  <a:t>guided</a:t>
                </a:r>
                <a:r>
                  <a:rPr lang="es-ES" sz="12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/>
                        </m:ctrlPr>
                      </m:sSubPr>
                      <m:e>
                        <m:r>
                          <a:rPr lang="es-ES" sz="1200" i="1"/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S" sz="1200"/>
                          <m:t>eff</m:t>
                        </m:r>
                      </m:sub>
                    </m:sSub>
                    <m:r>
                      <a:rPr lang="es-ES" sz="1200"/>
                      <m:t>&gt;</m:t>
                    </m:r>
                    <m:sSub>
                      <m:sSubPr>
                        <m:ctrlPr>
                          <a:rPr lang="es-ES" sz="1200" i="1"/>
                        </m:ctrlPr>
                      </m:sSubPr>
                      <m:e>
                        <m:r>
                          <a:rPr lang="es-ES" sz="1200" i="1"/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S" sz="1200"/>
                          <m:t>clad</m:t>
                        </m:r>
                      </m:sub>
                    </m:sSub>
                  </m:oMath>
                </a14:m>
                <a:r>
                  <a:rPr lang="es-ES" sz="1200" dirty="0"/>
                  <a:t>), Mode 2 </a:t>
                </a:r>
                <a:r>
                  <a:rPr lang="es-ES" sz="1200" dirty="0" err="1"/>
                  <a:t>lies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precisely</a:t>
                </a:r>
                <a:r>
                  <a:rPr lang="es-ES" sz="1200" dirty="0"/>
                  <a:t> at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cutoff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threshold</a:t>
                </a:r>
                <a:r>
                  <a:rPr lang="es-ES" sz="12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/>
                        </m:ctrlPr>
                      </m:sSubPr>
                      <m:e>
                        <m:r>
                          <a:rPr lang="es-ES" sz="1200" i="1"/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S" sz="1200"/>
                          <m:t>eff</m:t>
                        </m:r>
                      </m:sub>
                    </m:sSub>
                    <m:r>
                      <a:rPr lang="es-ES" sz="1200"/>
                      <m:t>≈1.4507</m:t>
                    </m:r>
                  </m:oMath>
                </a14:m>
                <a:r>
                  <a:rPr lang="es-ES" sz="1200" dirty="0"/>
                  <a:t>) and Mode 3 </a:t>
                </a:r>
                <a:r>
                  <a:rPr lang="es-ES" sz="1200" dirty="0" err="1"/>
                  <a:t>drops</a:t>
                </a:r>
                <a:r>
                  <a:rPr lang="es-ES" sz="1200" dirty="0"/>
                  <a:t> </a:t>
                </a:r>
                <a:r>
                  <a:rPr lang="es-ES" sz="1200" dirty="0" err="1"/>
                  <a:t>below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the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cladding</a:t>
                </a:r>
                <a:r>
                  <a:rPr lang="es-ES" sz="1200" dirty="0"/>
                  <a:t> refractive </a:t>
                </a:r>
                <a:r>
                  <a:rPr lang="es-ES" sz="1200" dirty="0" err="1"/>
                  <a:t>index</a:t>
                </a:r>
                <a:r>
                  <a:rPr lang="es-ES" sz="12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/>
                        </m:ctrlPr>
                      </m:sSubPr>
                      <m:e>
                        <m:r>
                          <a:rPr lang="es-ES" sz="1200" i="1"/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S" sz="1200"/>
                          <m:t>eff</m:t>
                        </m:r>
                      </m:sub>
                    </m:sSub>
                    <m:r>
                      <a:rPr lang="es-ES" sz="1200"/>
                      <m:t>≈1.4333&lt;</m:t>
                    </m:r>
                    <m:sSub>
                      <m:sSubPr>
                        <m:ctrlPr>
                          <a:rPr lang="es-ES" sz="1200" i="1"/>
                        </m:ctrlPr>
                      </m:sSubPr>
                      <m:e>
                        <m:r>
                          <a:rPr lang="es-ES" sz="1200" i="1"/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S" sz="1200"/>
                          <m:t>clad</m:t>
                        </m:r>
                      </m:sub>
                    </m:sSub>
                  </m:oMath>
                </a14:m>
                <a:r>
                  <a:rPr lang="es-ES" sz="1200" dirty="0"/>
                  <a:t>), </a:t>
                </a:r>
                <a:r>
                  <a:rPr lang="es-ES" sz="1200" dirty="0" err="1"/>
                  <a:t>identifying</a:t>
                </a:r>
                <a:r>
                  <a:rPr lang="es-ES" sz="1200" dirty="0"/>
                  <a:t> </a:t>
                </a:r>
                <a:r>
                  <a:rPr lang="es-ES" sz="1200" dirty="0" err="1"/>
                  <a:t>it</a:t>
                </a:r>
                <a:r>
                  <a:rPr lang="es-ES" sz="1200" dirty="0"/>
                  <a:t> as a non-</a:t>
                </a:r>
                <a:r>
                  <a:rPr lang="es-ES" sz="1200" dirty="0" err="1"/>
                  <a:t>confined</a:t>
                </a:r>
                <a:r>
                  <a:rPr lang="es-ES" sz="1200" dirty="0"/>
                  <a:t> radiative </a:t>
                </a:r>
                <a:r>
                  <a:rPr lang="es-ES" sz="1200" dirty="0" err="1"/>
                  <a:t>leaky</a:t>
                </a:r>
                <a:r>
                  <a:rPr lang="es-ES" sz="1200" dirty="0"/>
                  <a:t> </a:t>
                </a:r>
                <a:r>
                  <a:rPr lang="es-ES" sz="1200" dirty="0" err="1"/>
                  <a:t>mode</a:t>
                </a:r>
                <a:r>
                  <a:rPr lang="es-ES" sz="1200" dirty="0"/>
                  <a:t> </a:t>
                </a:r>
                <a:r>
                  <a:rPr lang="es-ES" sz="1200" dirty="0" err="1"/>
                  <a:t>rather</a:t>
                </a:r>
                <a:r>
                  <a:rPr lang="es-ES" sz="1200" dirty="0"/>
                  <a:t> </a:t>
                </a:r>
                <a:r>
                  <a:rPr lang="es-ES" sz="1200" dirty="0" err="1"/>
                  <a:t>than</a:t>
                </a:r>
                <a:r>
                  <a:rPr lang="es-ES" sz="1200" dirty="0"/>
                  <a:t> a true </a:t>
                </a:r>
                <a:r>
                  <a:rPr lang="es-ES" sz="1200" dirty="0" err="1"/>
                  <a:t>guided</a:t>
                </a:r>
                <a:r>
                  <a:rPr lang="es-ES" sz="1200" dirty="0"/>
                  <a:t> </a:t>
                </a:r>
                <a:r>
                  <a:rPr lang="es-ES" sz="1200" dirty="0" err="1"/>
                  <a:t>state</a:t>
                </a:r>
                <a:r>
                  <a:rPr lang="es-ES" sz="1200" dirty="0"/>
                  <a:t>.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D0F8CF3B-B920-DBFC-F825-0C87B51EA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1" y="4191000"/>
                <a:ext cx="11199971" cy="2139560"/>
              </a:xfrm>
              <a:prstGeom prst="rect">
                <a:avLst/>
              </a:prstGeom>
              <a:blipFill>
                <a:blip r:embed="rId4"/>
                <a:stretch>
                  <a:fillRect b="-563"/>
                </a:stretch>
              </a:blipFill>
              <a:ln w="28575">
                <a:solidFill>
                  <a:srgbClr val="E0700D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98C64B0-CE55-49D8-0F16-0AAB2E97493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0.1. MODESOLVER</a:t>
            </a:r>
            <a:endParaRPr lang="es-ES" spc="-5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49FBE0F-9D27-E432-8057-3B776AC4A95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CF52C3D5-E310-850D-269C-47B7F90CD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438" y="4724400"/>
            <a:ext cx="4159464" cy="41912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B77B1FC3-664F-8A56-BCFB-117E24CF0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51" y="5261963"/>
            <a:ext cx="4643039" cy="98111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8A05F08A-E41A-A046-F08F-02BFAF5AC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7930" y="5257800"/>
            <a:ext cx="4267419" cy="985281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2E03024A-6877-2E00-66F9-AD93F65A34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934" y="187340"/>
            <a:ext cx="2971800" cy="2000053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E7E645FE-DBEA-3A70-9814-6B0644575A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9334" y="170996"/>
            <a:ext cx="3020368" cy="2032739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61870A83-7308-65D6-EACC-1CCEFAD10B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4502" y="187340"/>
            <a:ext cx="3033498" cy="2000053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101ADA96-5A5C-9ECB-80AE-888B3B5C94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4502" y="2538947"/>
            <a:ext cx="3111366" cy="2007166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D4C68EE0-2E7D-2B7A-2D28-9A6670018A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2531123"/>
            <a:ext cx="2853837" cy="2086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92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656EC-E197-239C-60DD-C11F7BA4B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431EA70-9578-8BF1-5A05-77CDC26788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/>
              <a:t>Learning outcome #2 – Wavelength behavior</a:t>
            </a:r>
            <a:br>
              <a:rPr lang="es-ES" sz="2500" spc="-5">
                <a:latin typeface="+mj-lt"/>
                <a:cs typeface="Lucida Sans"/>
              </a:rPr>
            </a:br>
            <a:r>
              <a:rPr lang="en-US" b="0"/>
              <a:t>Wavelength 1.5-1.6 µm (step 0.02 µm) – width 1.2 µm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6A02C28-9CC3-6E88-B695-04A48E5FDE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B7F118F-AD79-0ED0-CE53-A8EE4409B4F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846C9D-3FE3-8524-3349-96E1AD1712B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CA5F0FDF-2A95-453B-4ECA-AEB637FF2694}"/>
                  </a:ext>
                </a:extLst>
              </p:cNvPr>
              <p:cNvSpPr txBox="1"/>
              <p:nvPr/>
            </p:nvSpPr>
            <p:spPr>
              <a:xfrm>
                <a:off x="609441" y="4572000"/>
                <a:ext cx="11199971" cy="16312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E0700D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Comment results (neff changes this way with wavelength, comparison between different waveguide cross-sections …)</a:t>
                </a:r>
              </a:p>
              <a:p>
                <a:r>
                  <a:rPr lang="es-ES" sz="1100" dirty="0" err="1"/>
                  <a:t>Across</a:t>
                </a:r>
                <a:r>
                  <a:rPr lang="es-ES" sz="1100" dirty="0"/>
                  <a:t> </a:t>
                </a:r>
                <a:r>
                  <a:rPr lang="es-ES" sz="1100" dirty="0" err="1"/>
                  <a:t>both</a:t>
                </a:r>
                <a:r>
                  <a:rPr lang="es-ES" sz="1100" dirty="0"/>
                  <a:t> </a:t>
                </a:r>
                <a:r>
                  <a:rPr lang="es-ES" sz="1100" dirty="0" err="1"/>
                  <a:t>architectures</a:t>
                </a:r>
                <a:r>
                  <a:rPr lang="es-ES" sz="11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100" i="1"/>
                        </m:ctrlPr>
                      </m:sSubPr>
                      <m:e>
                        <m:r>
                          <a:rPr lang="es-ES" sz="1100" i="1"/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S" sz="1100"/>
                          <m:t>eff</m:t>
                        </m:r>
                      </m:sub>
                    </m:sSub>
                  </m:oMath>
                </a14:m>
                <a:r>
                  <a:rPr lang="es-ES" sz="1100" dirty="0"/>
                  <a:t> </a:t>
                </a:r>
                <a:r>
                  <a:rPr lang="es-ES" sz="1100" dirty="0" err="1"/>
                  <a:t>exhibits</a:t>
                </a:r>
                <a:r>
                  <a:rPr lang="es-ES" sz="1100" dirty="0"/>
                  <a:t> a </a:t>
                </a:r>
                <a:r>
                  <a:rPr lang="es-ES" sz="1100" dirty="0" err="1"/>
                  <a:t>consistent</a:t>
                </a:r>
                <a:r>
                  <a:rPr lang="es-ES" sz="1100" dirty="0"/>
                  <a:t> </a:t>
                </a:r>
                <a:r>
                  <a:rPr lang="es-ES" sz="1100" dirty="0" err="1"/>
                  <a:t>downward</a:t>
                </a:r>
                <a:r>
                  <a:rPr lang="es-ES" sz="1100" dirty="0"/>
                  <a:t> </a:t>
                </a:r>
                <a:r>
                  <a:rPr lang="es-ES" sz="1100" dirty="0" err="1"/>
                  <a:t>trend</a:t>
                </a:r>
                <a:r>
                  <a:rPr lang="es-ES" sz="1100" dirty="0"/>
                  <a:t> as </a:t>
                </a:r>
                <a:r>
                  <a:rPr lang="es-ES" sz="1100" dirty="0" err="1"/>
                  <a:t>wavelength</a:t>
                </a:r>
                <a:r>
                  <a:rPr lang="es-ES" sz="1100" dirty="0"/>
                  <a:t> </a:t>
                </a:r>
                <a:r>
                  <a:rPr lang="es-ES" sz="1100" dirty="0" err="1"/>
                  <a:t>increases</a:t>
                </a:r>
                <a:r>
                  <a:rPr lang="es-ES" sz="1100" dirty="0"/>
                  <a:t>. </a:t>
                </a:r>
                <a:r>
                  <a:rPr lang="es-ES" sz="1100" dirty="0" err="1"/>
                  <a:t>This</a:t>
                </a:r>
                <a:r>
                  <a:rPr lang="es-ES" sz="1100" dirty="0"/>
                  <a:t> negative </a:t>
                </a:r>
                <a:r>
                  <a:rPr lang="es-ES" sz="1100" dirty="0" err="1"/>
                  <a:t>chromatic</a:t>
                </a:r>
                <a:r>
                  <a:rPr lang="es-ES" sz="1100" dirty="0"/>
                  <a:t> </a:t>
                </a:r>
                <a:r>
                  <a:rPr lang="es-ES" sz="1100" dirty="0" err="1"/>
                  <a:t>dispersion</a:t>
                </a:r>
                <a:r>
                  <a:rPr lang="es-ES" sz="1100" dirty="0"/>
                  <a:t> </a:t>
                </a:r>
                <a:r>
                  <a:rPr lang="es-ES" sz="1100" dirty="0" err="1"/>
                  <a:t>occurs</a:t>
                </a:r>
                <a:r>
                  <a:rPr lang="es-ES" sz="1100" dirty="0"/>
                  <a:t> </a:t>
                </a:r>
                <a:r>
                  <a:rPr lang="es-ES" sz="1100" dirty="0" err="1"/>
                  <a:t>because</a:t>
                </a:r>
                <a:r>
                  <a:rPr lang="es-ES" sz="1100" dirty="0"/>
                  <a:t> </a:t>
                </a:r>
                <a:r>
                  <a:rPr lang="es-ES" sz="1100" dirty="0" err="1"/>
                  <a:t>longer</a:t>
                </a:r>
                <a:r>
                  <a:rPr lang="es-ES" sz="1100" dirty="0"/>
                  <a:t> </a:t>
                </a:r>
                <a:r>
                  <a:rPr lang="es-ES" sz="1100" dirty="0" err="1"/>
                  <a:t>wavelengths</a:t>
                </a:r>
                <a:r>
                  <a:rPr lang="es-ES" sz="1100" dirty="0"/>
                  <a:t> </a:t>
                </a:r>
                <a:r>
                  <a:rPr lang="es-ES" sz="1100" dirty="0" err="1"/>
                  <a:t>penetrate</a:t>
                </a:r>
                <a:r>
                  <a:rPr lang="es-ES" sz="1100" dirty="0"/>
                  <a:t> </a:t>
                </a:r>
                <a:r>
                  <a:rPr lang="es-ES" sz="1100" dirty="0" err="1"/>
                  <a:t>deeper</a:t>
                </a:r>
                <a:r>
                  <a:rPr lang="es-ES" sz="1100" dirty="0"/>
                  <a:t> </a:t>
                </a:r>
                <a:r>
                  <a:rPr lang="es-ES" sz="1100" dirty="0" err="1"/>
                  <a:t>into</a:t>
                </a:r>
                <a:r>
                  <a:rPr lang="es-ES" sz="1100" dirty="0"/>
                  <a:t> </a:t>
                </a:r>
                <a:r>
                  <a:rPr lang="es-ES" sz="1100" dirty="0" err="1"/>
                  <a:t>the</a:t>
                </a:r>
                <a:r>
                  <a:rPr lang="es-ES" sz="1100" dirty="0"/>
                  <a:t> </a:t>
                </a:r>
                <a:r>
                  <a:rPr lang="es-ES" sz="1100" dirty="0" err="1"/>
                  <a:t>surrounding</a:t>
                </a:r>
                <a:r>
                  <a:rPr lang="es-ES" sz="1100" dirty="0"/>
                  <a:t> </a:t>
                </a:r>
                <a:r>
                  <a:rPr lang="es-ES" sz="1100" dirty="0" err="1"/>
                  <a:t>lower-index</a:t>
                </a:r>
                <a:r>
                  <a:rPr lang="es-ES" sz="11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10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1100"/>
                          <m:t>SiO</m:t>
                        </m:r>
                      </m:e>
                      <m:sub>
                        <m:r>
                          <a:rPr lang="es-ES" sz="1100"/>
                          <m:t>2</m:t>
                        </m:r>
                      </m:sub>
                    </m:sSub>
                  </m:oMath>
                </a14:m>
                <a:r>
                  <a:rPr lang="es-ES" sz="1100" dirty="0" err="1"/>
                  <a:t>cladding</a:t>
                </a:r>
                <a:r>
                  <a:rPr lang="es-ES" sz="1100" dirty="0"/>
                  <a:t>, </a:t>
                </a:r>
                <a:r>
                  <a:rPr lang="es-ES" sz="1100" dirty="0" err="1"/>
                  <a:t>reducing</a:t>
                </a:r>
                <a:r>
                  <a:rPr lang="es-ES" sz="1100" dirty="0"/>
                  <a:t> modal </a:t>
                </a:r>
                <a:r>
                  <a:rPr lang="es-ES" sz="1100" dirty="0" err="1"/>
                  <a:t>confinement</a:t>
                </a:r>
                <a:r>
                  <a:rPr lang="es-ES" sz="1100" dirty="0"/>
                  <a:t> </a:t>
                </a:r>
                <a:r>
                  <a:rPr lang="es-ES" sz="1100" dirty="0" err="1"/>
                  <a:t>within</a:t>
                </a:r>
                <a:r>
                  <a:rPr lang="es-ES" sz="1100" dirty="0"/>
                  <a:t> </a:t>
                </a:r>
                <a:r>
                  <a:rPr lang="es-ES" sz="1100" dirty="0" err="1"/>
                  <a:t>the</a:t>
                </a:r>
                <a:r>
                  <a:rPr lang="es-ES" sz="1100" dirty="0"/>
                  <a:t> </a:t>
                </a:r>
                <a:r>
                  <a:rPr lang="es-ES" sz="1100" dirty="0" err="1"/>
                  <a:t>high-index</a:t>
                </a:r>
                <a:r>
                  <a:rPr lang="es-ES" sz="11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10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1100"/>
                          <m:t>Si</m:t>
                        </m:r>
                      </m:e>
                      <m:sub>
                        <m:r>
                          <a:rPr lang="es-ES" sz="1100"/>
                          <m:t>3</m:t>
                        </m:r>
                      </m:sub>
                    </m:sSub>
                    <m:sSub>
                      <m:sSubPr>
                        <m:ctrlPr>
                          <a:rPr lang="es-ES" sz="110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1100"/>
                          <m:t>N</m:t>
                        </m:r>
                      </m:e>
                      <m:sub>
                        <m:r>
                          <a:rPr lang="es-ES" sz="1100"/>
                          <m:t>4</m:t>
                        </m:r>
                      </m:sub>
                    </m:sSub>
                  </m:oMath>
                </a14:m>
                <a:r>
                  <a:rPr lang="es-ES" sz="1100" dirty="0" err="1"/>
                  <a:t>core</a:t>
                </a:r>
                <a:r>
                  <a:rPr lang="es-ES" sz="1100" dirty="0"/>
                  <a:t>.</a:t>
                </a:r>
              </a:p>
              <a:p>
                <a:r>
                  <a:rPr lang="es-ES" sz="1100" dirty="0" err="1"/>
                  <a:t>Comparing</a:t>
                </a:r>
                <a:r>
                  <a:rPr lang="es-ES" sz="1100" dirty="0"/>
                  <a:t> </a:t>
                </a:r>
                <a:r>
                  <a:rPr lang="es-ES" sz="1100" dirty="0" err="1"/>
                  <a:t>the</a:t>
                </a:r>
                <a:r>
                  <a:rPr lang="es-ES" sz="1100" dirty="0"/>
                  <a:t> </a:t>
                </a:r>
                <a:r>
                  <a:rPr lang="es-ES" sz="1100" dirty="0" err="1"/>
                  <a:t>two</a:t>
                </a:r>
                <a:r>
                  <a:rPr lang="es-ES" sz="1100" dirty="0"/>
                  <a:t> </a:t>
                </a:r>
                <a:r>
                  <a:rPr lang="es-ES" sz="1100" dirty="0" err="1"/>
                  <a:t>configurations</a:t>
                </a:r>
                <a:r>
                  <a:rPr lang="es-ES" sz="1100" dirty="0"/>
                  <a:t> </a:t>
                </a:r>
                <a:r>
                  <a:rPr lang="es-ES" sz="1100" dirty="0" err="1"/>
                  <a:t>reveals</a:t>
                </a:r>
                <a:r>
                  <a:rPr lang="es-ES" sz="1100" dirty="0"/>
                  <a:t> </a:t>
                </a:r>
                <a:r>
                  <a:rPr lang="es-ES" sz="1100" dirty="0" err="1"/>
                  <a:t>the</a:t>
                </a:r>
                <a:r>
                  <a:rPr lang="es-ES" sz="1100" dirty="0"/>
                  <a:t> </a:t>
                </a:r>
                <a:r>
                  <a:rPr lang="es-ES" sz="1100" dirty="0" err="1"/>
                  <a:t>impact</a:t>
                </a:r>
                <a:r>
                  <a:rPr lang="es-ES" sz="1100" dirty="0"/>
                  <a:t> </a:t>
                </a:r>
                <a:r>
                  <a:rPr lang="es-ES" sz="1100" dirty="0" err="1"/>
                  <a:t>of</a:t>
                </a:r>
                <a:r>
                  <a:rPr lang="es-ES" sz="1100" dirty="0"/>
                  <a:t> </a:t>
                </a:r>
                <a:r>
                  <a:rPr lang="es-ES" sz="1100" dirty="0" err="1"/>
                  <a:t>the</a:t>
                </a:r>
                <a:r>
                  <a:rPr lang="es-ES" sz="1100" dirty="0"/>
                  <a:t> </a:t>
                </a:r>
                <a:r>
                  <a:rPr lang="es-ES" sz="1100" dirty="0" err="1"/>
                  <a:t>slab</a:t>
                </a:r>
                <a:r>
                  <a:rPr lang="es-ES" sz="1100" dirty="0"/>
                  <a:t> </a:t>
                </a:r>
                <a:r>
                  <a:rPr lang="es-ES" sz="1100" dirty="0" err="1"/>
                  <a:t>layer</a:t>
                </a:r>
                <a:r>
                  <a:rPr lang="es-ES" sz="1100" dirty="0"/>
                  <a:t>:</a:t>
                </a:r>
              </a:p>
              <a:p>
                <a:pPr lvl="0"/>
                <a:r>
                  <a:rPr lang="es-ES" sz="1100" dirty="0" err="1"/>
                  <a:t>On</a:t>
                </a:r>
                <a:r>
                  <a:rPr lang="es-ES" sz="1100" dirty="0"/>
                  <a:t> </a:t>
                </a:r>
                <a:r>
                  <a:rPr lang="es-ES" sz="1100" dirty="0" err="1"/>
                  <a:t>the</a:t>
                </a:r>
                <a:r>
                  <a:rPr lang="es-ES" sz="1100" dirty="0"/>
                  <a:t> </a:t>
                </a:r>
                <a:r>
                  <a:rPr lang="es-ES" sz="1100" dirty="0" err="1"/>
                  <a:t>shallow</a:t>
                </a:r>
                <a:r>
                  <a:rPr lang="es-ES" sz="1100" dirty="0"/>
                  <a:t> </a:t>
                </a:r>
                <a:r>
                  <a:rPr lang="es-ES" sz="1100" dirty="0" err="1"/>
                  <a:t>waveguide</a:t>
                </a:r>
                <a:r>
                  <a:rPr lang="es-ES" sz="1100" dirty="0"/>
                  <a:t>, </a:t>
                </a:r>
                <a:r>
                  <a:rPr lang="es-ES" sz="1100" dirty="0" err="1"/>
                  <a:t>the</a:t>
                </a:r>
                <a:r>
                  <a:rPr lang="es-ES" sz="1100" dirty="0"/>
                  <a:t> </a:t>
                </a:r>
                <a:r>
                  <a:rPr lang="es-ES" sz="1100" dirty="0" err="1"/>
                  <a:t>presence</a:t>
                </a:r>
                <a:r>
                  <a:rPr lang="es-ES" sz="1100" dirty="0"/>
                  <a:t> </a:t>
                </a:r>
                <a:r>
                  <a:rPr lang="es-ES" sz="1100" dirty="0" err="1"/>
                  <a:t>of</a:t>
                </a:r>
                <a:r>
                  <a:rPr lang="es-ES" sz="1100" dirty="0"/>
                  <a:t> </a:t>
                </a:r>
                <a:r>
                  <a:rPr lang="es-ES" sz="1100" dirty="0" err="1"/>
                  <a:t>the</a:t>
                </a:r>
                <a:r>
                  <a:rPr lang="es-ES" sz="1100" dirty="0"/>
                  <a:t> </a:t>
                </a:r>
                <a14:m>
                  <m:oMath xmlns:m="http://schemas.openxmlformats.org/officeDocument/2006/math">
                    <m:r>
                      <a:rPr lang="es-ES" sz="1100" b="0"/>
                      <m:t>150 </m:t>
                    </m:r>
                    <m:r>
                      <m:rPr>
                        <m:sty m:val="p"/>
                      </m:rPr>
                      <a:rPr lang="es-ES" sz="1100" b="0"/>
                      <m:t>nm</m:t>
                    </m:r>
                  </m:oMath>
                </a14:m>
                <a:r>
                  <a:rPr lang="es-ES" sz="1100" dirty="0"/>
                  <a:t> </a:t>
                </a:r>
                <a:r>
                  <a:rPr lang="es-ES" sz="1100" dirty="0" err="1"/>
                  <a:t>slab</a:t>
                </a:r>
                <a:r>
                  <a:rPr lang="es-ES" sz="1100" dirty="0"/>
                  <a:t> </a:t>
                </a:r>
                <a:r>
                  <a:rPr lang="es-ES" sz="1100" dirty="0" err="1"/>
                  <a:t>increases</a:t>
                </a:r>
                <a:r>
                  <a:rPr lang="es-ES" sz="1100" dirty="0"/>
                  <a:t> </a:t>
                </a:r>
                <a:r>
                  <a:rPr lang="es-ES" sz="1100" dirty="0" err="1"/>
                  <a:t>the</a:t>
                </a:r>
                <a:r>
                  <a:rPr lang="es-ES" sz="1100" dirty="0"/>
                  <a:t> </a:t>
                </a:r>
                <a:r>
                  <a:rPr lang="es-ES" sz="1100" dirty="0" err="1"/>
                  <a:t>overall</a:t>
                </a:r>
                <a:r>
                  <a:rPr lang="es-ES" sz="1100" dirty="0"/>
                  <a:t> </a:t>
                </a:r>
                <a:r>
                  <a:rPr lang="es-ES" sz="1100" dirty="0" err="1"/>
                  <a:t>effective</a:t>
                </a:r>
                <a:r>
                  <a:rPr lang="es-ES" sz="1100" dirty="0"/>
                  <a:t> </a:t>
                </a:r>
                <a:r>
                  <a:rPr lang="es-ES" sz="1100" dirty="0" err="1"/>
                  <a:t>index</a:t>
                </a:r>
                <a:r>
                  <a:rPr lang="es-ES" sz="1100" dirty="0"/>
                  <a:t> </a:t>
                </a:r>
                <a:r>
                  <a:rPr lang="es-ES" sz="1100" dirty="0" err="1"/>
                  <a:t>across</a:t>
                </a:r>
                <a:r>
                  <a:rPr lang="es-ES" sz="1100" dirty="0"/>
                  <a:t> </a:t>
                </a:r>
                <a:r>
                  <a:rPr lang="es-ES" sz="1100" dirty="0" err="1"/>
                  <a:t>all</a:t>
                </a:r>
                <a:r>
                  <a:rPr lang="es-ES" sz="1100" dirty="0"/>
                  <a:t> </a:t>
                </a:r>
                <a:r>
                  <a:rPr lang="es-ES" sz="1100" dirty="0" err="1"/>
                  <a:t>modes</a:t>
                </a:r>
                <a:r>
                  <a:rPr lang="es-ES" sz="1100" dirty="0"/>
                  <a:t> (Mode 0 </a:t>
                </a:r>
                <a:r>
                  <a:rPr lang="es-ES" sz="1100" dirty="0" err="1"/>
                  <a:t>starting</a:t>
                </a:r>
                <a:r>
                  <a:rPr lang="es-ES" sz="1100" dirty="0"/>
                  <a:t> </a:t>
                </a:r>
                <a:r>
                  <a:rPr lang="es-ES" sz="1100" dirty="0" err="1"/>
                  <a:t>above</a:t>
                </a:r>
                <a:r>
                  <a:rPr lang="es-ES" sz="1100" dirty="0"/>
                  <a:t> </a:t>
                </a:r>
                <a14:m>
                  <m:oMath xmlns:m="http://schemas.openxmlformats.org/officeDocument/2006/math">
                    <m:r>
                      <a:rPr lang="es-ES" sz="1100" b="0"/>
                      <m:t>1.63</m:t>
                    </m:r>
                  </m:oMath>
                </a14:m>
                <a:r>
                  <a:rPr lang="es-ES" sz="1100" dirty="0"/>
                  <a:t>) </a:t>
                </a:r>
                <a:r>
                  <a:rPr lang="es-ES" sz="1100" dirty="0" err="1"/>
                  <a:t>due</a:t>
                </a:r>
                <a:r>
                  <a:rPr lang="es-ES" sz="1100" dirty="0"/>
                  <a:t> </a:t>
                </a:r>
                <a:r>
                  <a:rPr lang="es-ES" sz="1100" dirty="0" err="1"/>
                  <a:t>to</a:t>
                </a:r>
                <a:r>
                  <a:rPr lang="es-ES" sz="1100" dirty="0"/>
                  <a:t> </a:t>
                </a:r>
                <a:r>
                  <a:rPr lang="es-ES" sz="1100" dirty="0" err="1"/>
                  <a:t>stronger</a:t>
                </a:r>
                <a:r>
                  <a:rPr lang="es-ES" sz="1100" dirty="0"/>
                  <a:t> vertical </a:t>
                </a:r>
                <a:r>
                  <a:rPr lang="es-ES" sz="1100" dirty="0" err="1"/>
                  <a:t>confinement</a:t>
                </a:r>
                <a:r>
                  <a:rPr lang="es-ES" sz="1100" dirty="0"/>
                  <a:t> and </a:t>
                </a:r>
                <a:r>
                  <a:rPr lang="es-ES" sz="1100" dirty="0" err="1"/>
                  <a:t>lower</a:t>
                </a:r>
                <a:r>
                  <a:rPr lang="es-ES" sz="1100" dirty="0"/>
                  <a:t> </a:t>
                </a:r>
                <a:r>
                  <a:rPr lang="es-ES" sz="1100" dirty="0" err="1"/>
                  <a:t>field</a:t>
                </a:r>
                <a:r>
                  <a:rPr lang="es-ES" sz="1100" dirty="0"/>
                  <a:t> </a:t>
                </a:r>
                <a:r>
                  <a:rPr lang="es-ES" sz="1100" dirty="0" err="1"/>
                  <a:t>penetration</a:t>
                </a:r>
                <a:r>
                  <a:rPr lang="es-ES" sz="1100" dirty="0"/>
                  <a:t> </a:t>
                </a:r>
                <a:r>
                  <a:rPr lang="es-ES" sz="1100" dirty="0" err="1"/>
                  <a:t>into</a:t>
                </a:r>
                <a:r>
                  <a:rPr lang="es-ES" sz="1100" dirty="0"/>
                  <a:t> </a:t>
                </a:r>
                <a:r>
                  <a:rPr lang="es-ES" sz="1100" dirty="0" err="1"/>
                  <a:t>the</a:t>
                </a:r>
                <a:r>
                  <a:rPr lang="es-ES" sz="1100" dirty="0"/>
                  <a:t> </a:t>
                </a:r>
                <a:r>
                  <a:rPr lang="es-ES" sz="1100" dirty="0" err="1"/>
                  <a:t>cladding</a:t>
                </a:r>
                <a:r>
                  <a:rPr lang="es-ES" sz="1100" dirty="0"/>
                  <a:t>.</a:t>
                </a:r>
              </a:p>
              <a:p>
                <a:pPr lvl="0"/>
                <a:r>
                  <a:rPr lang="es-ES" sz="1100" dirty="0" err="1"/>
                  <a:t>On</a:t>
                </a:r>
                <a:r>
                  <a:rPr lang="es-ES" sz="1100" dirty="0"/>
                  <a:t> </a:t>
                </a:r>
                <a:r>
                  <a:rPr lang="es-ES" sz="1100" dirty="0" err="1"/>
                  <a:t>the</a:t>
                </a:r>
                <a:r>
                  <a:rPr lang="es-ES" sz="1100" dirty="0"/>
                  <a:t> </a:t>
                </a:r>
                <a:r>
                  <a:rPr lang="es-ES" sz="1100" dirty="0" err="1"/>
                  <a:t>deep</a:t>
                </a:r>
                <a:r>
                  <a:rPr lang="es-ES" sz="1100" dirty="0"/>
                  <a:t> </a:t>
                </a:r>
                <a:r>
                  <a:rPr lang="es-ES" sz="1100" dirty="0" err="1"/>
                  <a:t>waveguide</a:t>
                </a:r>
                <a:r>
                  <a:rPr lang="es-ES" sz="1100" dirty="0"/>
                  <a:t>, full </a:t>
                </a:r>
                <a:r>
                  <a:rPr lang="es-ES" sz="1100" dirty="0" err="1"/>
                  <a:t>etching</a:t>
                </a:r>
                <a:r>
                  <a:rPr lang="es-ES" sz="1100" dirty="0"/>
                  <a:t> </a:t>
                </a:r>
                <a:r>
                  <a:rPr lang="es-ES" sz="1100" dirty="0" err="1"/>
                  <a:t>eliminates</a:t>
                </a:r>
                <a:r>
                  <a:rPr lang="es-ES" sz="1100" dirty="0"/>
                  <a:t> </a:t>
                </a:r>
                <a:r>
                  <a:rPr lang="es-ES" sz="1100" dirty="0" err="1"/>
                  <a:t>the</a:t>
                </a:r>
                <a:r>
                  <a:rPr lang="es-ES" sz="1100" dirty="0"/>
                  <a:t> </a:t>
                </a:r>
                <a:r>
                  <a:rPr lang="es-ES" sz="1100" dirty="0" err="1"/>
                  <a:t>slab</a:t>
                </a:r>
                <a:r>
                  <a:rPr lang="es-ES" sz="1100" dirty="0"/>
                  <a:t>, </a:t>
                </a:r>
                <a:r>
                  <a:rPr lang="es-ES" sz="1100" dirty="0" err="1"/>
                  <a:t>lowering</a:t>
                </a:r>
                <a:r>
                  <a:rPr lang="es-ES" sz="1100" dirty="0"/>
                  <a:t> </a:t>
                </a:r>
                <a:r>
                  <a:rPr lang="es-ES" sz="1100" dirty="0" err="1"/>
                  <a:t>overall</a:t>
                </a:r>
                <a:r>
                  <a:rPr lang="es-ES" sz="11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100" b="0" i="1"/>
                        </m:ctrlPr>
                      </m:sSubPr>
                      <m:e>
                        <m:r>
                          <a:rPr lang="es-ES" sz="1100" b="0" i="1"/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S" sz="1100" b="0"/>
                          <m:t>eff</m:t>
                        </m:r>
                      </m:sub>
                    </m:sSub>
                  </m:oMath>
                </a14:m>
                <a:r>
                  <a:rPr lang="es-ES" sz="1100" dirty="0" err="1"/>
                  <a:t>values</a:t>
                </a:r>
                <a:r>
                  <a:rPr lang="es-ES" sz="1100" dirty="0"/>
                  <a:t>. </a:t>
                </a:r>
                <a:r>
                  <a:rPr lang="es-ES" sz="1100" dirty="0" err="1"/>
                  <a:t>Furthermore</a:t>
                </a:r>
                <a:r>
                  <a:rPr lang="es-ES" sz="1100" dirty="0"/>
                  <a:t>, benchmarking </a:t>
                </a:r>
                <a:r>
                  <a:rPr lang="es-ES" sz="1100" dirty="0" err="1"/>
                  <a:t>against</a:t>
                </a:r>
                <a:r>
                  <a:rPr lang="es-ES" sz="1100" dirty="0"/>
                  <a:t> </a:t>
                </a:r>
                <a:r>
                  <a:rPr lang="es-ES" sz="1100" dirty="0" err="1"/>
                  <a:t>the</a:t>
                </a:r>
                <a:r>
                  <a:rPr lang="es-ES" sz="11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100" b="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1100" b="0"/>
                          <m:t>SiO</m:t>
                        </m:r>
                      </m:e>
                      <m:sub>
                        <m:r>
                          <a:rPr lang="es-ES" sz="1100" b="0"/>
                          <m:t>2</m:t>
                        </m:r>
                      </m:sub>
                    </m:sSub>
                  </m:oMath>
                </a14:m>
                <a:r>
                  <a:rPr lang="es-ES" sz="1100" dirty="0" err="1"/>
                  <a:t>cladding</a:t>
                </a:r>
                <a:r>
                  <a:rPr lang="es-ES" sz="1100" dirty="0"/>
                  <a:t> </a:t>
                </a:r>
                <a:r>
                  <a:rPr lang="es-ES" sz="1100" dirty="0" err="1"/>
                  <a:t>index</a:t>
                </a:r>
                <a:r>
                  <a:rPr lang="es-ES" sz="1100" dirty="0"/>
                  <a:t> </a:t>
                </a:r>
                <a:r>
                  <a:rPr lang="es-ES" sz="1100" dirty="0" err="1"/>
                  <a:t>limit</a:t>
                </a:r>
                <a:r>
                  <a:rPr lang="es-ES" sz="1100" dirty="0"/>
                  <a:t> (</a:t>
                </a:r>
                <a:r>
                  <a:rPr lang="es-ES" sz="1100" dirty="0" err="1"/>
                  <a:t>dashed</a:t>
                </a:r>
                <a:r>
                  <a:rPr lang="es-ES" sz="1100" dirty="0"/>
                  <a:t> </a:t>
                </a:r>
                <a:r>
                  <a:rPr lang="es-ES" sz="1100" dirty="0" err="1"/>
                  <a:t>black</a:t>
                </a:r>
                <a:r>
                  <a:rPr lang="es-ES" sz="1100" dirty="0"/>
                  <a:t> line, </a:t>
                </a:r>
                <a14:m>
                  <m:oMath xmlns:m="http://schemas.openxmlformats.org/officeDocument/2006/math">
                    <m:r>
                      <a:rPr lang="es-ES" sz="1100" b="0"/>
                      <m:t>≈1.458</m:t>
                    </m:r>
                  </m:oMath>
                </a14:m>
                <a:r>
                  <a:rPr lang="es-ES" sz="1100" dirty="0"/>
                  <a:t>) </a:t>
                </a:r>
                <a:r>
                  <a:rPr lang="es-ES" sz="1100" dirty="0" err="1"/>
                  <a:t>clearly</a:t>
                </a:r>
                <a:r>
                  <a:rPr lang="es-ES" sz="1100" dirty="0"/>
                  <a:t> </a:t>
                </a:r>
                <a:r>
                  <a:rPr lang="es-ES" sz="1100" dirty="0" err="1"/>
                  <a:t>identifies</a:t>
                </a:r>
                <a:r>
                  <a:rPr lang="es-ES" sz="1100" dirty="0"/>
                  <a:t> </a:t>
                </a:r>
                <a:r>
                  <a:rPr lang="es-ES" sz="1100" dirty="0" err="1"/>
                  <a:t>cutoff</a:t>
                </a:r>
                <a:r>
                  <a:rPr lang="es-ES" sz="1100" dirty="0"/>
                  <a:t> </a:t>
                </a:r>
                <a:r>
                  <a:rPr lang="es-ES" sz="1100" dirty="0" err="1"/>
                  <a:t>boundaries</a:t>
                </a:r>
                <a:r>
                  <a:rPr lang="es-ES" sz="1100" dirty="0"/>
                  <a:t>: Modes 0, 1, and 2 </a:t>
                </a:r>
                <a:r>
                  <a:rPr lang="es-ES" sz="1100" dirty="0" err="1"/>
                  <a:t>remain</a:t>
                </a:r>
                <a:r>
                  <a:rPr lang="es-ES" sz="1100" dirty="0"/>
                  <a:t> </a:t>
                </a:r>
                <a:r>
                  <a:rPr lang="es-ES" sz="1100" dirty="0" err="1"/>
                  <a:t>above</a:t>
                </a:r>
                <a:r>
                  <a:rPr lang="es-ES" sz="1100" dirty="0"/>
                  <a:t> </a:t>
                </a:r>
                <a:r>
                  <a:rPr lang="es-ES" sz="1100" dirty="0" err="1"/>
                  <a:t>or</a:t>
                </a:r>
                <a:r>
                  <a:rPr lang="es-ES" sz="1100" dirty="0"/>
                  <a:t> </a:t>
                </a:r>
                <a:r>
                  <a:rPr lang="es-ES" sz="1100" dirty="0" err="1"/>
                  <a:t>near</a:t>
                </a:r>
                <a:r>
                  <a:rPr lang="es-ES" sz="1100" dirty="0"/>
                  <a:t> </a:t>
                </a:r>
                <a:r>
                  <a:rPr lang="es-ES" sz="1100" dirty="0" err="1"/>
                  <a:t>the</a:t>
                </a:r>
                <a:r>
                  <a:rPr lang="es-ES" sz="1100" dirty="0"/>
                  <a:t> </a:t>
                </a:r>
                <a:r>
                  <a:rPr lang="es-ES" sz="1100" dirty="0" err="1"/>
                  <a:t>cladding</a:t>
                </a:r>
                <a:r>
                  <a:rPr lang="es-ES" sz="1100" dirty="0"/>
                  <a:t> </a:t>
                </a:r>
                <a:r>
                  <a:rPr lang="es-ES" sz="1100" dirty="0" err="1"/>
                  <a:t>index</a:t>
                </a:r>
                <a:r>
                  <a:rPr lang="es-ES" sz="1100" dirty="0"/>
                  <a:t>, </a:t>
                </a:r>
                <a:r>
                  <a:rPr lang="es-ES" sz="1100" dirty="0" err="1"/>
                  <a:t>whereas</a:t>
                </a:r>
                <a:r>
                  <a:rPr lang="es-ES" sz="1100" dirty="0"/>
                  <a:t> Mode 3 </a:t>
                </a:r>
                <a:r>
                  <a:rPr lang="es-ES" sz="1100" dirty="0" err="1"/>
                  <a:t>drops</a:t>
                </a:r>
                <a:r>
                  <a:rPr lang="es-ES" sz="1100" dirty="0"/>
                  <a:t> </a:t>
                </a:r>
                <a:r>
                  <a:rPr lang="es-ES" sz="1100" dirty="0" err="1"/>
                  <a:t>below</a:t>
                </a:r>
                <a:r>
                  <a:rPr lang="es-ES" sz="1100" dirty="0"/>
                  <a:t> </a:t>
                </a:r>
                <a:r>
                  <a:rPr lang="es-ES" sz="1100" dirty="0" err="1"/>
                  <a:t>it</a:t>
                </a:r>
                <a:r>
                  <a:rPr lang="es-ES" sz="1100" dirty="0"/>
                  <a:t>, confirming </a:t>
                </a:r>
                <a:r>
                  <a:rPr lang="es-ES" sz="1100" dirty="0" err="1"/>
                  <a:t>that</a:t>
                </a:r>
                <a:r>
                  <a:rPr lang="es-ES" sz="1100" dirty="0"/>
                  <a:t> </a:t>
                </a:r>
                <a:r>
                  <a:rPr lang="es-ES" sz="1100" dirty="0" err="1"/>
                  <a:t>higher-order</a:t>
                </a:r>
                <a:r>
                  <a:rPr lang="es-ES" sz="1100" dirty="0"/>
                  <a:t> </a:t>
                </a:r>
                <a:r>
                  <a:rPr lang="es-ES" sz="1100" dirty="0" err="1"/>
                  <a:t>modes</a:t>
                </a:r>
                <a:r>
                  <a:rPr lang="es-ES" sz="1100" dirty="0"/>
                  <a:t> </a:t>
                </a:r>
                <a:r>
                  <a:rPr lang="es-ES" sz="1100" dirty="0" err="1"/>
                  <a:t>transition</a:t>
                </a:r>
                <a:r>
                  <a:rPr lang="es-ES" sz="1100" dirty="0"/>
                  <a:t> </a:t>
                </a:r>
                <a:r>
                  <a:rPr lang="es-ES" sz="1100" dirty="0" err="1"/>
                  <a:t>into</a:t>
                </a:r>
                <a:r>
                  <a:rPr lang="es-ES" sz="1100" dirty="0"/>
                  <a:t> radiative </a:t>
                </a:r>
                <a:r>
                  <a:rPr lang="es-ES" sz="1100" dirty="0" err="1"/>
                  <a:t>leaky</a:t>
                </a:r>
                <a:r>
                  <a:rPr lang="es-ES" sz="1100" dirty="0"/>
                  <a:t> </a:t>
                </a:r>
                <a:r>
                  <a:rPr lang="es-ES" sz="1100" dirty="0" err="1"/>
                  <a:t>states</a:t>
                </a:r>
                <a:r>
                  <a:rPr lang="es-ES" sz="1100" dirty="0"/>
                  <a:t> </a:t>
                </a:r>
                <a:r>
                  <a:rPr lang="es-ES" sz="1100" dirty="0" err="1"/>
                  <a:t>within</a:t>
                </a:r>
                <a:r>
                  <a:rPr lang="es-ES" sz="1100" dirty="0"/>
                  <a:t> </a:t>
                </a:r>
                <a:r>
                  <a:rPr lang="es-ES" sz="1100" dirty="0" err="1"/>
                  <a:t>this</a:t>
                </a:r>
                <a:r>
                  <a:rPr lang="es-ES" sz="1100" dirty="0"/>
                  <a:t> </a:t>
                </a:r>
                <a:r>
                  <a:rPr lang="es-ES" sz="1100" dirty="0" err="1"/>
                  <a:t>wavelength</a:t>
                </a:r>
                <a:r>
                  <a:rPr lang="es-ES" sz="1100" dirty="0"/>
                  <a:t> </a:t>
                </a:r>
                <a:r>
                  <a:rPr lang="es-ES" sz="1100" dirty="0" err="1"/>
                  <a:t>window</a:t>
                </a:r>
                <a:r>
                  <a:rPr lang="es-ES" sz="1100" dirty="0"/>
                  <a:t>.</a:t>
                </a:r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CA5F0FDF-2A95-453B-4ECA-AEB637FF2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1" y="4572000"/>
                <a:ext cx="11199971" cy="1631216"/>
              </a:xfrm>
              <a:prstGeom prst="rect">
                <a:avLst/>
              </a:prstGeom>
              <a:blipFill>
                <a:blip r:embed="rId4"/>
                <a:stretch>
                  <a:fillRect b="-366"/>
                </a:stretch>
              </a:blipFill>
              <a:ln w="28575">
                <a:solidFill>
                  <a:srgbClr val="E0700D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88F19863-7091-B8CA-F848-DBEA5CEEA027}"/>
              </a:ext>
            </a:extLst>
          </p:cNvPr>
          <p:cNvSpPr/>
          <p:nvPr/>
        </p:nvSpPr>
        <p:spPr>
          <a:xfrm>
            <a:off x="609441" y="1143000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C4E7A47-20E2-3C27-D841-5A665642F6E2}"/>
              </a:ext>
            </a:extLst>
          </p:cNvPr>
          <p:cNvSpPr txBox="1"/>
          <p:nvPr/>
        </p:nvSpPr>
        <p:spPr>
          <a:xfrm>
            <a:off x="2285455" y="2671278"/>
            <a:ext cx="19805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shallow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plot here</a:t>
            </a:r>
          </a:p>
          <a:p>
            <a:pPr algn="ctr"/>
            <a:r>
              <a:rPr lang="en-US" dirty="0"/>
              <a:t>Plot </a:t>
            </a:r>
            <a:r>
              <a:rPr lang="en-US" dirty="0" err="1"/>
              <a:t>neff</a:t>
            </a:r>
            <a:r>
              <a:rPr lang="en-US" dirty="0"/>
              <a:t> vs lambda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1F754A5-65BC-14A3-5F55-75716FFA9027}"/>
              </a:ext>
            </a:extLst>
          </p:cNvPr>
          <p:cNvSpPr/>
          <p:nvPr/>
        </p:nvSpPr>
        <p:spPr>
          <a:xfrm>
            <a:off x="6476841" y="1143000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D9C65D4-5494-F5CE-1094-CB0A32C33876}"/>
              </a:ext>
            </a:extLst>
          </p:cNvPr>
          <p:cNvSpPr txBox="1"/>
          <p:nvPr/>
        </p:nvSpPr>
        <p:spPr>
          <a:xfrm>
            <a:off x="8151765" y="2671278"/>
            <a:ext cx="19827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plot here</a:t>
            </a:r>
          </a:p>
          <a:p>
            <a:pPr algn="ctr"/>
            <a:r>
              <a:rPr lang="en-US" dirty="0"/>
              <a:t>Plot </a:t>
            </a:r>
            <a:r>
              <a:rPr lang="en-US" dirty="0" err="1"/>
              <a:t>neff</a:t>
            </a:r>
            <a:r>
              <a:rPr lang="en-US" dirty="0"/>
              <a:t> vs lambda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BD4C233-B5D9-B6AA-93A8-CF2F130CFF9C}"/>
              </a:ext>
            </a:extLst>
          </p:cNvPr>
          <p:cNvSpPr txBox="1"/>
          <p:nvPr/>
        </p:nvSpPr>
        <p:spPr>
          <a:xfrm>
            <a:off x="642989" y="4127512"/>
            <a:ext cx="2269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slab = 150nm</a:t>
            </a:r>
            <a:endParaRPr lang="es-ES" dirty="0"/>
          </a:p>
        </p:txBody>
      </p:sp>
      <p:pic>
        <p:nvPicPr>
          <p:cNvPr id="10" name="Imagen 9" descr="Gráfico&#10;&#10;El contenido generado por IA puede ser incorrecto.">
            <a:extLst>
              <a:ext uri="{FF2B5EF4-FFF2-40B4-BE49-F238E27FC236}">
                <a16:creationId xmlns:a16="http://schemas.microsoft.com/office/drawing/2014/main" id="{96DA4BD8-309D-AAF2-F4FF-AF9439A0C4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7642" y="1367283"/>
            <a:ext cx="4836487" cy="2821284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425DCDEB-11F6-34FC-DB00-65657FA950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943" y="1428883"/>
            <a:ext cx="4727713" cy="273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356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1586</TotalTime>
  <Words>715</Words>
  <Application>Microsoft Office PowerPoint</Application>
  <PresentationFormat>Panorámica</PresentationFormat>
  <Paragraphs>70</Paragraphs>
  <Slides>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4" baseType="lpstr">
      <vt:lpstr>Aptos</vt:lpstr>
      <vt:lpstr>Arial</vt:lpstr>
      <vt:lpstr>Calibri</vt:lpstr>
      <vt:lpstr>Cambria Math</vt:lpstr>
      <vt:lpstr>Lucida Sans</vt:lpstr>
      <vt:lpstr>Times New Roman</vt:lpstr>
      <vt:lpstr>Wingdings</vt:lpstr>
      <vt:lpstr>Office Theme</vt:lpstr>
      <vt:lpstr>Presentación de PowerPoint</vt:lpstr>
      <vt:lpstr>Instructions General</vt:lpstr>
      <vt:lpstr>Learning outcome #1 – Effective index of a waveguide </vt:lpstr>
      <vt:lpstr>Presentación de PowerPoint</vt:lpstr>
      <vt:lpstr>Learning outcome #2 – Wavelength behavior Wavelength 1.5-1.6 µm (step 0.02 µm) – width 1.2 µm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Andrés Sanchez-Toril Bastrygina</cp:lastModifiedBy>
  <cp:revision>8</cp:revision>
  <dcterms:created xsi:type="dcterms:W3CDTF">2025-01-27T02:46:57Z</dcterms:created>
  <dcterms:modified xsi:type="dcterms:W3CDTF">2026-10-06T07:34:23Z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